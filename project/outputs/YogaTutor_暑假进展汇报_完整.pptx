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585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封面。标准姿势图来自 src/standard_images/Warrior II Pose.jpg。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项目目标根据 docs/README.md 和网页文案整理。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时间线基于项目文件修改时间和 docs/README.md、docs/hardware.md、web/README.md、docs/BLE_MIGRATION.md。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架构依据 docs/architecture.md。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参数来自 src/config.py 和 docs/architecture.md。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标准姿势列表来自 src/standard_poses 和 src/standard_images。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网页架构来自 web/app.js、src/web_mvp_server.py 和 web/README.md。当前是 localhost HTTP；跨设备部署建议 HTTPS/WSS。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当前接口来自 src/web_mvp_server.py：/api/status、/api/frame、/api/reset。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截图由 web/index.html 分块截取。静态截图显示未开启摄像头状态，实际演示需使用 web/start-local.ps1 启动 Python 识别服务。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触觉反馈映射来自 src/haptic_feedback.py 和 tests/test_mvp_logic.py。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串口协议来自 docs/hardware.md、src/esp32_controller.py、firmware/yoga_bands/yoga_bands.ino、docs/BLE_MIGRATION.md。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总结结合 docs/README.md、web/README.md 和 BLE_MIGRATION.md。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13333" r="13333"/>
          <a:stretch>
            <a:fillRect/>
          </a:stretch>
        </p:blipFill>
        <p:spPr>
          <a:xfrm>
            <a:off x="6076950" y="742950"/>
            <a:ext cx="5448300" cy="4762500"/>
          </a:xfrm>
          <a:prstGeom prst="roundRect">
            <a:avLst>
              <a:gd name="adj" fmla="val 1600"/>
            </a:avLst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5A8962AE-ED24-496B-BC85-5570BEFA6266}"/>
              </a:ext>
            </a:extLst>
          </p:cNvPr>
          <p:cNvSpPr>
            <a:spLocks noGrp="1"/>
          </p:cNvSpPr>
          <p:nvPr/>
        </p:nvSpPr>
        <p:spPr>
          <a:xfrm>
            <a:off x="6076950" y="742950"/>
            <a:ext cx="5448300" cy="4762500"/>
          </a:xfrm>
          <a:prstGeom prst="roundRect">
            <a:avLst>
              <a:gd name="adj" fmla="val 1600"/>
            </a:avLst>
          </a:prstGeom>
          <a:noFill/>
          <a:ln w="9525">
            <a:solidFill>
              <a:srgbClr val="000000">
                <a:alpha val="0"/>
              </a:srgbClr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2B6888-A0D7-4513-8947-3B3CCC17B2C3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l">
              <a:def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视觉感知 × 单腕触觉引导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12DDA6-227C-4140-B53B-EAE1D2CC59C9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48577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YogaTutor</a:t>
            </a:r>
          </a:p>
          <a:p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暑假进展汇报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61D354-AECB-40C8-BF7A-A39F2EEEFA33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4476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基于视觉感知和多方向触觉引导的实时动作矫正系统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5B6A93-4F3B-4A0C-8ACF-AFEB0D69692F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1524000" cy="47625"/>
          </a:xfrm>
          <a:prstGeom prst="rect">
            <a:avLst/>
          </a:prstGeom>
          <a:solidFill>
            <a:srgbClr val="FF4F00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7BF9E6-A2C5-442D-9F56-3D4AADB4278E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2026 年 7-8 月阶段成果</a:t>
            </a:r>
          </a:p>
        </p:txBody>
      </p:sp>
    </p:spTree>
    <p:extLst>
      <p:ext uri="{BB962C8B-B14F-4D97-AF65-F5344CB8AC3E}">
        <p14:creationId xmlns:p14="http://schemas.microsoft.com/office/powerpoint/2010/main" val="10385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E64C010D-22D7-4966-B42A-4B00B7343D55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 背景与目标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7C4419-55A2-4397-B037-70A09E35A33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项目目标：让用户看见偏差，感受调整方向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E800C0-82C9-4712-86E8-5C704A997C68}"/>
              </a:ext>
            </a:extLst>
          </p:cNvPr>
          <p:cNvSpPr>
            <a:spLocks noGrp="1"/>
          </p:cNvSpPr>
          <p:nvPr/>
        </p:nvSpPr>
        <p:spPr>
          <a:xfrm>
            <a:off x="9353550" y="4000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8D8AB6-1C6E-4053-9C96-BF39CEC8A366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9525"/>
          </a:xfrm>
          <a:prstGeom prst="rect">
            <a:avLst/>
          </a:prstGeom>
          <a:solidFill>
            <a:srgbClr val="E5DCD4"/>
          </a:solidFill>
          <a:ln w="0">
            <a:noFill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BA00FDD-E7B7-4FAE-AF7B-CF5E431C9A86}"/>
              </a:ext>
            </a:extLst>
          </p:cNvPr>
          <p:cNvSpPr>
            <a:spLocks noGrp="1"/>
          </p:cNvSpPr>
          <p:nvPr/>
        </p:nvSpPr>
        <p:spPr>
          <a:xfrm>
            <a:off x="704850" y="1743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ECD4FA-7F63-4FD9-9D35-DD8EEB6879B4}"/>
              </a:ext>
            </a:extLst>
          </p:cNvPr>
          <p:cNvSpPr>
            <a:spLocks noGrp="1"/>
          </p:cNvSpPr>
          <p:nvPr/>
        </p:nvSpPr>
        <p:spPr>
          <a:xfrm>
            <a:off x="914400" y="1676400"/>
            <a:ext cx="47434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普通视频教学缺少实时动作纠错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965A206-7AB9-4362-A5A1-C23025E38C2B}"/>
              </a:ext>
            </a:extLst>
          </p:cNvPr>
          <p:cNvSpPr>
            <a:spLocks noGrp="1"/>
          </p:cNvSpPr>
          <p:nvPr/>
        </p:nvSpPr>
        <p:spPr>
          <a:xfrm>
            <a:off x="704850" y="2295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12D067-1AAA-4C9E-A282-C74D9ED6F328}"/>
              </a:ext>
            </a:extLst>
          </p:cNvPr>
          <p:cNvSpPr>
            <a:spLocks noGrp="1"/>
          </p:cNvSpPr>
          <p:nvPr/>
        </p:nvSpPr>
        <p:spPr>
          <a:xfrm>
            <a:off x="914400" y="2228850"/>
            <a:ext cx="47434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练习者低头看屏幕会打断动作保持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67B1A36-51F3-47D5-A10B-25A05C8C4AC4}"/>
              </a:ext>
            </a:extLst>
          </p:cNvPr>
          <p:cNvSpPr>
            <a:spLocks noGrp="1"/>
          </p:cNvSpPr>
          <p:nvPr/>
        </p:nvSpPr>
        <p:spPr>
          <a:xfrm>
            <a:off x="704850" y="2847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EA9963-97CC-41DF-9A03-A905FB1440A0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47434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830"/>
          </a:bodyPr>
          <a:lstStyle/>
          <a:p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系统用视觉识别姿态偏差，再用手环给出方向提示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AA986F9-7395-4FDA-9F9B-DEB463A2A0E2}"/>
              </a:ext>
            </a:extLst>
          </p:cNvPr>
          <p:cNvSpPr>
            <a:spLocks noGrp="1"/>
          </p:cNvSpPr>
          <p:nvPr/>
        </p:nvSpPr>
        <p:spPr>
          <a:xfrm>
            <a:off x="6286500" y="1676400"/>
            <a:ext cx="4476750" cy="3238500"/>
          </a:xfrm>
          <a:prstGeom prst="roundRect">
            <a:avLst>
              <a:gd name="adj" fmla="val 2353"/>
            </a:avLst>
          </a:prstGeom>
          <a:solidFill>
            <a:srgbClr val="1F1112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9000AF-99E3-4A92-AABF-8F59CB13EC59}"/>
              </a:ext>
            </a:extLst>
          </p:cNvPr>
          <p:cNvSpPr>
            <a:spLocks noGrp="1"/>
          </p:cNvSpPr>
          <p:nvPr/>
        </p:nvSpPr>
        <p:spPr>
          <a:xfrm>
            <a:off x="6705600" y="21907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78" lnSpcReduction="10000"/>
          </a:bodyPr>
          <a:lstStyle/>
          <a:p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5F22E5-1757-4A6A-8E28-B9C97A60A935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l">
              <a:def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识别人体关键点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2C4CB0-E8D5-49CA-8D76-AED9A82C6EC0}"/>
              </a:ext>
            </a:extLst>
          </p:cNvPr>
          <p:cNvSpPr>
            <a:spLocks noGrp="1"/>
          </p:cNvSpPr>
          <p:nvPr/>
        </p:nvSpPr>
        <p:spPr>
          <a:xfrm>
            <a:off x="8382000" y="219075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78" lnSpcReduction="10000"/>
          </a:bodyPr>
          <a:lstStyle/>
          <a:p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03C3FDC-659B-4AEB-99DD-BCC1D2747C16}"/>
              </a:ext>
            </a:extLst>
          </p:cNvPr>
          <p:cNvSpPr>
            <a:spLocks noGrp="1"/>
          </p:cNvSpPr>
          <p:nvPr/>
        </p:nvSpPr>
        <p:spPr>
          <a:xfrm>
            <a:off x="8382000" y="25717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l">
              <a:def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定位关节偏差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1CB694-0F78-45A9-8351-DF5F8B4B0D9F}"/>
              </a:ext>
            </a:extLst>
          </p:cNvPr>
          <p:cNvSpPr>
            <a:spLocks noGrp="1"/>
          </p:cNvSpPr>
          <p:nvPr/>
        </p:nvSpPr>
        <p:spPr>
          <a:xfrm>
            <a:off x="6705600" y="365760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78" lnSpcReduction="10000"/>
          </a:bodyPr>
          <a:lstStyle/>
          <a:p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手环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F74555-98A3-4D14-B73E-3F73366E48A1}"/>
              </a:ext>
            </a:extLst>
          </p:cNvPr>
          <p:cNvSpPr>
            <a:spLocks noGrp="1"/>
          </p:cNvSpPr>
          <p:nvPr/>
        </p:nvSpPr>
        <p:spPr>
          <a:xfrm>
            <a:off x="6705600" y="403860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l">
              <a:def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震动提示方向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E7C645B-C7A9-42A5-B635-17FEDFDE3377}"/>
              </a:ext>
            </a:extLst>
          </p:cNvPr>
          <p:cNvSpPr>
            <a:spLocks noGrp="1"/>
          </p:cNvSpPr>
          <p:nvPr/>
        </p:nvSpPr>
        <p:spPr>
          <a:xfrm>
            <a:off x="8382000" y="365760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78" lnSpcReduction="10000"/>
          </a:bodyPr>
          <a:lstStyle/>
          <a:p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67D816-939A-46AF-AD02-43144A855100}"/>
              </a:ext>
            </a:extLst>
          </p:cNvPr>
          <p:cNvSpPr>
            <a:spLocks noGrp="1"/>
          </p:cNvSpPr>
          <p:nvPr/>
        </p:nvSpPr>
        <p:spPr>
          <a:xfrm>
            <a:off x="8382000" y="40386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l">
              <a:def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练习中即时调整</a:t>
            </a:r>
          </a:p>
        </p:txBody>
      </p:sp>
    </p:spTree>
    <p:extLst>
      <p:ext uri="{BB962C8B-B14F-4D97-AF65-F5344CB8AC3E}">
        <p14:creationId xmlns:p14="http://schemas.microsoft.com/office/powerpoint/2010/main" val="125879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815C9EDF-8E15-41CD-924A-BC60463A69ED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 暑假进展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6D89A9-2A68-4244-B948-B5A59E7DC472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暑假工作总览：从主程序到可演示网页 MVP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BC0B65-2EF7-45EE-ABB6-ACFB74EBE5F2}"/>
              </a:ext>
            </a:extLst>
          </p:cNvPr>
          <p:cNvSpPr>
            <a:spLocks noGrp="1"/>
          </p:cNvSpPr>
          <p:nvPr/>
        </p:nvSpPr>
        <p:spPr>
          <a:xfrm>
            <a:off x="9353550" y="4000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FB6E1F-98C7-441A-9D40-C14C2175FFC8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9525"/>
          </a:xfrm>
          <a:prstGeom prst="rect">
            <a:avLst/>
          </a:prstGeom>
          <a:solidFill>
            <a:srgbClr val="E5DCD4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6C9D4D-3446-4154-9002-C207A52DE985}"/>
              </a:ext>
            </a:extLst>
          </p:cNvPr>
          <p:cNvSpPr>
            <a:spLocks noGrp="1"/>
          </p:cNvSpPr>
          <p:nvPr/>
        </p:nvSpPr>
        <p:spPr>
          <a:xfrm>
            <a:off x="933450" y="2705100"/>
            <a:ext cx="9620250" cy="38100"/>
          </a:xfrm>
          <a:prstGeom prst="rect">
            <a:avLst/>
          </a:prstGeom>
          <a:solidFill>
            <a:srgbClr val="FF4F00"/>
          </a:solidFill>
          <a:ln w="0">
            <a:noFill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E2CCBF1-01F1-43ED-85F9-EA453036C826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1600200" cy="1943100"/>
          </a:xfrm>
          <a:prstGeom prst="roundRect">
            <a:avLst>
              <a:gd name="adj" fmla="val 4762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C9B82F-3B49-4CD5-802D-AECCDEBAE23A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257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 lnSpcReduction="10000"/>
          </a:bodyPr>
          <a:lstStyle/>
          <a:p>
            <a:pPr algn="l">
              <a:def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D87CD2-BB40-4E8D-A034-D525985A38AA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12573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统一主程序</a:t>
            </a:r>
          </a:p>
          <a:p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自动识别与手动评估共存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7EEE19D-B10B-47EC-80FB-ADE86B7297C0}"/>
              </a:ext>
            </a:extLst>
          </p:cNvPr>
          <p:cNvSpPr>
            <a:spLocks noGrp="1"/>
          </p:cNvSpPr>
          <p:nvPr/>
        </p:nvSpPr>
        <p:spPr>
          <a:xfrm>
            <a:off x="3067050" y="2038350"/>
            <a:ext cx="1600200" cy="1943100"/>
          </a:xfrm>
          <a:prstGeom prst="roundRect">
            <a:avLst>
              <a:gd name="adj" fmla="val 4762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111F8-52EB-4D9F-9C09-5B6B9CA60A8D}"/>
              </a:ext>
            </a:extLst>
          </p:cNvPr>
          <p:cNvSpPr>
            <a:spLocks noGrp="1"/>
          </p:cNvSpPr>
          <p:nvPr/>
        </p:nvSpPr>
        <p:spPr>
          <a:xfrm>
            <a:off x="3238500" y="2266950"/>
            <a:ext cx="1257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 lnSpcReduction="10000"/>
          </a:bodyPr>
          <a:lstStyle/>
          <a:p>
            <a:pPr algn="l">
              <a:def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EB2933-F0C6-4C50-A3D9-82715B1DDB99}"/>
              </a:ext>
            </a:extLst>
          </p:cNvPr>
          <p:cNvSpPr>
            <a:spLocks noGrp="1"/>
          </p:cNvSpPr>
          <p:nvPr/>
        </p:nvSpPr>
        <p:spPr>
          <a:xfrm>
            <a:off x="3238500" y="2876550"/>
            <a:ext cx="12573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ESP32 固件</a:t>
            </a:r>
          </a:p>
          <a:p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串口协议与左手环控制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E6380B9-D9B8-4BE3-88C6-E67537800688}"/>
              </a:ext>
            </a:extLst>
          </p:cNvPr>
          <p:cNvSpPr>
            <a:spLocks noGrp="1"/>
          </p:cNvSpPr>
          <p:nvPr/>
        </p:nvSpPr>
        <p:spPr>
          <a:xfrm>
            <a:off x="5353050" y="2038350"/>
            <a:ext cx="1600200" cy="1943100"/>
          </a:xfrm>
          <a:prstGeom prst="roundRect">
            <a:avLst>
              <a:gd name="adj" fmla="val 4762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6E2912-A187-4B99-A0A9-5C465EE0A268}"/>
              </a:ext>
            </a:extLst>
          </p:cNvPr>
          <p:cNvSpPr>
            <a:spLocks noGrp="1"/>
          </p:cNvSpPr>
          <p:nvPr/>
        </p:nvSpPr>
        <p:spPr>
          <a:xfrm>
            <a:off x="5524500" y="2266950"/>
            <a:ext cx="1257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 lnSpcReduction="10000"/>
          </a:bodyPr>
          <a:lstStyle/>
          <a:p>
            <a:pPr algn="l">
              <a:def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269625-D3AF-44BA-9D3A-87536800BA81}"/>
              </a:ext>
            </a:extLst>
          </p:cNvPr>
          <p:cNvSpPr>
            <a:spLocks noGrp="1"/>
          </p:cNvSpPr>
          <p:nvPr/>
        </p:nvSpPr>
        <p:spPr>
          <a:xfrm>
            <a:off x="5524500" y="2876550"/>
            <a:ext cx="12573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Web MVP</a:t>
            </a:r>
          </a:p>
          <a:p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Warrior II 实时练习界面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B4CF5CC-6B17-443F-A551-788E73AFAC64}"/>
              </a:ext>
            </a:extLst>
          </p:cNvPr>
          <p:cNvSpPr>
            <a:spLocks noGrp="1"/>
          </p:cNvSpPr>
          <p:nvPr/>
        </p:nvSpPr>
        <p:spPr>
          <a:xfrm>
            <a:off x="7639050" y="2038350"/>
            <a:ext cx="1600200" cy="1943100"/>
          </a:xfrm>
          <a:prstGeom prst="roundRect">
            <a:avLst>
              <a:gd name="adj" fmla="val 4762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A782B5-5B2B-4829-BCAF-3DF574A318BD}"/>
              </a:ext>
            </a:extLst>
          </p:cNvPr>
          <p:cNvSpPr>
            <a:spLocks noGrp="1"/>
          </p:cNvSpPr>
          <p:nvPr/>
        </p:nvSpPr>
        <p:spPr>
          <a:xfrm>
            <a:off x="7810500" y="2266950"/>
            <a:ext cx="1257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 lnSpcReduction="10000"/>
          </a:bodyPr>
          <a:lstStyle/>
          <a:p>
            <a:pPr algn="l">
              <a:def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1B9E1C-F565-4214-B289-6D8B1D47C4D5}"/>
              </a:ext>
            </a:extLst>
          </p:cNvPr>
          <p:cNvSpPr>
            <a:spLocks noGrp="1"/>
          </p:cNvSpPr>
          <p:nvPr/>
        </p:nvSpPr>
        <p:spPr>
          <a:xfrm>
            <a:off x="7810500" y="2876550"/>
            <a:ext cx="12573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闭环强化</a:t>
            </a:r>
          </a:p>
          <a:p>
            <a:pPr algn="l">
              <a:def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串口保活、测试、BLE 方案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9D0D59F-038E-4C1B-B437-0E908126B550}"/>
              </a:ext>
            </a:extLst>
          </p:cNvPr>
          <p:cNvSpPr>
            <a:spLocks noGrp="1"/>
          </p:cNvSpPr>
          <p:nvPr/>
        </p:nvSpPr>
        <p:spPr>
          <a:xfrm>
            <a:off x="9925050" y="2038350"/>
            <a:ext cx="1600200" cy="1943100"/>
          </a:xfrm>
          <a:prstGeom prst="roundRect">
            <a:avLst>
              <a:gd name="adj" fmla="val 4762"/>
            </a:avLst>
          </a:prstGeom>
          <a:solidFill>
            <a:srgbClr val="1F1112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BA786F-8952-4E18-BC61-CCE23412B108}"/>
              </a:ext>
            </a:extLst>
          </p:cNvPr>
          <p:cNvSpPr>
            <a:spLocks noGrp="1"/>
          </p:cNvSpPr>
          <p:nvPr/>
        </p:nvSpPr>
        <p:spPr>
          <a:xfrm>
            <a:off x="10096500" y="2266950"/>
            <a:ext cx="1257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 lnSpcReduction="10000"/>
          </a:bodyPr>
          <a:lstStyle/>
          <a:p>
            <a:pPr algn="l">
              <a:defRPr sz="15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8059F1C-EE10-44A0-A05F-6826C4F78A0B}"/>
              </a:ext>
            </a:extLst>
          </p:cNvPr>
          <p:cNvSpPr>
            <a:spLocks noGrp="1"/>
          </p:cNvSpPr>
          <p:nvPr/>
        </p:nvSpPr>
        <p:spPr>
          <a:xfrm>
            <a:off x="10096500" y="2876550"/>
            <a:ext cx="12573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产品化扩展</a:t>
            </a:r>
          </a:p>
          <a:p>
            <a:pPr algn="l">
              <a:defRPr sz="12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BLE、双手环、多动作选择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89C11E-2193-49B8-8C17-FDE93ABF0ACE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月：标准姿势库、论文材料和申报文档作为前期基础。暑假重点放在系统闭环和演示可用性。</a:t>
            </a:r>
          </a:p>
        </p:txBody>
      </p:sp>
    </p:spTree>
    <p:extLst>
      <p:ext uri="{BB962C8B-B14F-4D97-AF65-F5344CB8AC3E}">
        <p14:creationId xmlns:p14="http://schemas.microsoft.com/office/powerpoint/2010/main" val="1808584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CFFE602-6303-469E-98C0-955602F688B8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DEE3BC-F43B-4450-B529-73F77E64F44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系统架构：视觉、评分和触觉反馈形成闭环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2C2B1F-F02F-42CD-86D3-999559AAA1F5}"/>
              </a:ext>
            </a:extLst>
          </p:cNvPr>
          <p:cNvSpPr>
            <a:spLocks noGrp="1"/>
          </p:cNvSpPr>
          <p:nvPr/>
        </p:nvSpPr>
        <p:spPr>
          <a:xfrm>
            <a:off x="9353550" y="4000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A5654F-9DCE-4C48-853D-7F41F6C409D6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9525"/>
          </a:xfrm>
          <a:prstGeom prst="rect">
            <a:avLst/>
          </a:prstGeom>
          <a:solidFill>
            <a:srgbClr val="E5DCD4"/>
          </a:solidFill>
          <a:ln w="0">
            <a:noFill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ABE20F4-D9EE-4678-9489-F388F70A5D69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5E5563-123F-4F5B-A89A-CB5833FA14B3}"/>
              </a:ext>
            </a:extLst>
          </p:cNvPr>
          <p:cNvSpPr>
            <a:spLocks noGrp="1"/>
          </p:cNvSpPr>
          <p:nvPr/>
        </p:nvSpPr>
        <p:spPr>
          <a:xfrm>
            <a:off x="914400" y="19050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 lnSpcReduction="10000"/>
          </a:bodyPr>
          <a:lstStyle/>
          <a:p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摄像头帧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784908-D259-4FBB-B4E6-CABCC8CFD04B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17" lnSpcReduction="10000"/>
          </a:bodyPr>
          <a:lstStyle/>
          <a:p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浏览器或 OpenCV 采集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998767F-99D7-450B-8360-A708184DB0E2}"/>
              </a:ext>
            </a:extLst>
          </p:cNvPr>
          <p:cNvSpPr>
            <a:spLocks noGrp="1"/>
          </p:cNvSpPr>
          <p:nvPr/>
        </p:nvSpPr>
        <p:spPr>
          <a:xfrm>
            <a:off x="4229100" y="169545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27AE40-1FB2-42E2-94A4-98F7E97828E2}"/>
              </a:ext>
            </a:extLst>
          </p:cNvPr>
          <p:cNvSpPr>
            <a:spLocks noGrp="1"/>
          </p:cNvSpPr>
          <p:nvPr/>
        </p:nvSpPr>
        <p:spPr>
          <a:xfrm>
            <a:off x="4438650" y="19050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 lnSpcReduction="10000"/>
          </a:bodyPr>
          <a:lstStyle/>
          <a:p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姿态检测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2E250C-C049-46D6-AE5F-881474FD660E}"/>
              </a:ext>
            </a:extLst>
          </p:cNvPr>
          <p:cNvSpPr>
            <a:spLocks noGrp="1"/>
          </p:cNvSpPr>
          <p:nvPr/>
        </p:nvSpPr>
        <p:spPr>
          <a:xfrm>
            <a:off x="4438650" y="2286000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17" lnSpcReduction="10000"/>
          </a:bodyPr>
          <a:lstStyle/>
          <a:p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提取 33 个关键点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DBE08AC-D82D-44C6-B356-B747AB642D74}"/>
              </a:ext>
            </a:extLst>
          </p:cNvPr>
          <p:cNvSpPr>
            <a:spLocks noGrp="1"/>
          </p:cNvSpPr>
          <p:nvPr/>
        </p:nvSpPr>
        <p:spPr>
          <a:xfrm>
            <a:off x="7753350" y="169545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470D84-5D98-41F4-AEFA-89295AA82397}"/>
              </a:ext>
            </a:extLst>
          </p:cNvPr>
          <p:cNvSpPr>
            <a:spLocks noGrp="1"/>
          </p:cNvSpPr>
          <p:nvPr/>
        </p:nvSpPr>
        <p:spPr>
          <a:xfrm>
            <a:off x="7962900" y="19050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 lnSpcReduction="10000"/>
          </a:bodyPr>
          <a:lstStyle/>
          <a:p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稳定处理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25D64F-6FE5-482A-B67F-0F0A4DF207F1}"/>
              </a:ext>
            </a:extLst>
          </p:cNvPr>
          <p:cNvSpPr>
            <a:spLocks noGrp="1"/>
          </p:cNvSpPr>
          <p:nvPr/>
        </p:nvSpPr>
        <p:spPr>
          <a:xfrm>
            <a:off x="7962900" y="2286000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17" lnSpcReduction="10000"/>
          </a:bodyPr>
          <a:lstStyle/>
          <a:p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1€ Filter 与静止检测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6BF094E-EC07-438D-B97B-619E355B370A}"/>
              </a:ext>
            </a:extLst>
          </p:cNvPr>
          <p:cNvSpPr>
            <a:spLocks noGrp="1"/>
          </p:cNvSpPr>
          <p:nvPr/>
        </p:nvSpPr>
        <p:spPr>
          <a:xfrm>
            <a:off x="704850" y="350520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0C5706-B92B-446D-9529-2437C2323628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 lnSpcReduction="10000"/>
          </a:bodyPr>
          <a:lstStyle/>
          <a:p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角度评分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78C15C-E40E-4368-B77E-77747592440F}"/>
              </a:ext>
            </a:extLst>
          </p:cNvPr>
          <p:cNvSpPr>
            <a:spLocks noGrp="1"/>
          </p:cNvSpPr>
          <p:nvPr/>
        </p:nvSpPr>
        <p:spPr>
          <a:xfrm>
            <a:off x="914400" y="4095750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17" lnSpcReduction="10000"/>
          </a:bodyPr>
          <a:lstStyle/>
          <a:p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8 个关节角逐项比较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DF2762D-A540-4F50-B7D2-6B7AA3A620DF}"/>
              </a:ext>
            </a:extLst>
          </p:cNvPr>
          <p:cNvSpPr>
            <a:spLocks noGrp="1"/>
          </p:cNvSpPr>
          <p:nvPr/>
        </p:nvSpPr>
        <p:spPr>
          <a:xfrm>
            <a:off x="4229100" y="350520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1F1112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1CEDEC-81C3-436C-9FD7-2F4BDCCD1598}"/>
              </a:ext>
            </a:extLst>
          </p:cNvPr>
          <p:cNvSpPr>
            <a:spLocks noGrp="1"/>
          </p:cNvSpPr>
          <p:nvPr/>
        </p:nvSpPr>
        <p:spPr>
          <a:xfrm>
            <a:off x="4438650" y="37147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 lnSpcReduction="10000"/>
          </a:bodyPr>
          <a:lstStyle/>
          <a:p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触觉映射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C47ED6-9C03-4BD3-BCAB-0EB9BA9626AB}"/>
              </a:ext>
            </a:extLst>
          </p:cNvPr>
          <p:cNvSpPr>
            <a:spLocks noGrp="1"/>
          </p:cNvSpPr>
          <p:nvPr/>
        </p:nvSpPr>
        <p:spPr>
          <a:xfrm>
            <a:off x="4438650" y="4095750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17" lnSpcReduction="10000"/>
          </a:bodyPr>
          <a:lstStyle/>
          <a:p>
            <a:pPr algn="l">
              <a:defRPr sz="12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偏差方向映射到马达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21F4C1-6753-47AF-9E1D-16F79EAB4360}"/>
              </a:ext>
            </a:extLst>
          </p:cNvPr>
          <p:cNvSpPr>
            <a:spLocks noGrp="1"/>
          </p:cNvSpPr>
          <p:nvPr/>
        </p:nvSpPr>
        <p:spPr>
          <a:xfrm>
            <a:off x="7753350" y="350520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1F1112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0AB35C-B0C1-4747-89C4-7B81A46A4F1F}"/>
              </a:ext>
            </a:extLst>
          </p:cNvPr>
          <p:cNvSpPr>
            <a:spLocks noGrp="1"/>
          </p:cNvSpPr>
          <p:nvPr/>
        </p:nvSpPr>
        <p:spPr>
          <a:xfrm>
            <a:off x="7962900" y="37147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 lnSpcReduction="10000"/>
          </a:bodyPr>
          <a:lstStyle/>
          <a:p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008CD3-E8BF-4E8C-B2C8-EAF23F3F9EFF}"/>
              </a:ext>
            </a:extLst>
          </p:cNvPr>
          <p:cNvSpPr>
            <a:spLocks noGrp="1"/>
          </p:cNvSpPr>
          <p:nvPr/>
        </p:nvSpPr>
        <p:spPr>
          <a:xfrm>
            <a:off x="7962900" y="4095750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17" lnSpcReduction="10000"/>
          </a:bodyPr>
          <a:lstStyle/>
          <a:p>
            <a:pPr algn="l">
              <a:defRPr sz="12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USB 串口驱动左手环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708502-1FC0-4A94-8C3E-F2E1EF4C7EDF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8953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汇报中这一部分只保留必要技术线索，重点放到后面的网页和硬件演示闭环。</a:t>
            </a:r>
          </a:p>
        </p:txBody>
      </p:sp>
    </p:spTree>
    <p:extLst>
      <p:ext uri="{BB962C8B-B14F-4D97-AF65-F5344CB8AC3E}">
        <p14:creationId xmlns:p14="http://schemas.microsoft.com/office/powerpoint/2010/main" val="100002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B3F418B-CEAB-426B-BC6D-3BB21DBF5BEC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AD5939-A645-4D88-97A9-5F182B950ED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姿态感知：从 33 个关键点提取 8 个关节角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FCEA6A-6930-4872-879C-230DE9B90305}"/>
              </a:ext>
            </a:extLst>
          </p:cNvPr>
          <p:cNvSpPr>
            <a:spLocks noGrp="1"/>
          </p:cNvSpPr>
          <p:nvPr/>
        </p:nvSpPr>
        <p:spPr>
          <a:xfrm>
            <a:off x="9353550" y="4000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BBD3E4-C2FF-4461-AF9F-6E6A66EE68C4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9525"/>
          </a:xfrm>
          <a:prstGeom prst="rect">
            <a:avLst/>
          </a:prstGeom>
          <a:solidFill>
            <a:srgbClr val="E5DCD4"/>
          </a:solidFill>
          <a:ln w="0">
            <a:noFill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3621" b="3621"/>
          <a:stretch>
            <a:fillRect/>
          </a:stretch>
        </p:blipFill>
        <p:spPr>
          <a:xfrm>
            <a:off x="6572250" y="1581150"/>
            <a:ext cx="4476750" cy="1714500"/>
          </a:xfrm>
          <a:prstGeom prst="roundRect">
            <a:avLst>
              <a:gd name="adj" fmla="val 4444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68599742-1CC5-4AE1-B9AF-8973E82866CB}"/>
              </a:ext>
            </a:extLst>
          </p:cNvPr>
          <p:cNvSpPr>
            <a:spLocks noGrp="1"/>
          </p:cNvSpPr>
          <p:nvPr/>
        </p:nvSpPr>
        <p:spPr>
          <a:xfrm>
            <a:off x="704850" y="17335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3FEEDB-B386-41E3-BE8B-5D166CE16246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67B798-9CA2-445C-8BB7-D15AD3CC01D6}"/>
              </a:ext>
            </a:extLst>
          </p:cNvPr>
          <p:cNvSpPr>
            <a:spLocks noGrp="1"/>
          </p:cNvSpPr>
          <p:nvPr/>
        </p:nvSpPr>
        <p:spPr>
          <a:xfrm>
            <a:off x="895350" y="236220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人体关键点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3E87790-6414-4898-BFCC-0370B878D936}"/>
              </a:ext>
            </a:extLst>
          </p:cNvPr>
          <p:cNvSpPr>
            <a:spLocks noGrp="1"/>
          </p:cNvSpPr>
          <p:nvPr/>
        </p:nvSpPr>
        <p:spPr>
          <a:xfrm>
            <a:off x="3143250" y="17335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CABEEA-CFB1-496C-8043-767B43600A79}"/>
              </a:ext>
            </a:extLst>
          </p:cNvPr>
          <p:cNvSpPr>
            <a:spLocks noGrp="1"/>
          </p:cNvSpPr>
          <p:nvPr/>
        </p:nvSpPr>
        <p:spPr>
          <a:xfrm>
            <a:off x="3333750" y="19050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E3B5B6-64F2-4D3D-8E5B-6C24231AFDB8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肩、肘、髋、膝关节角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397E9DA-1796-4235-83CF-0584E99B9A16}"/>
              </a:ext>
            </a:extLst>
          </p:cNvPr>
          <p:cNvSpPr>
            <a:spLocks noGrp="1"/>
          </p:cNvSpPr>
          <p:nvPr/>
        </p:nvSpPr>
        <p:spPr>
          <a:xfrm>
            <a:off x="704850" y="320040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F1E200-DB01-4F98-819F-E1774991AEF8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1.2s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0E7A55-E3AC-4569-B99B-54990E902511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静止后触发评估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5B83118-10E2-4B40-B032-5E8C323E5129}"/>
              </a:ext>
            </a:extLst>
          </p:cNvPr>
          <p:cNvSpPr>
            <a:spLocks noGrp="1"/>
          </p:cNvSpPr>
          <p:nvPr/>
        </p:nvSpPr>
        <p:spPr>
          <a:xfrm>
            <a:off x="3143250" y="320040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365BBB-ED10-493D-988B-462345D2EBC0}"/>
              </a:ext>
            </a:extLst>
          </p:cNvPr>
          <p:cNvSpPr>
            <a:spLocks noGrp="1"/>
          </p:cNvSpPr>
          <p:nvPr/>
        </p:nvSpPr>
        <p:spPr>
          <a:xfrm>
            <a:off x="3333750" y="337185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A0B7BB-3034-4C3A-9FCD-B2DE3F2939B7}"/>
              </a:ext>
            </a:extLst>
          </p:cNvPr>
          <p:cNvSpPr>
            <a:spLocks noGrp="1"/>
          </p:cNvSpPr>
          <p:nvPr/>
        </p:nvSpPr>
        <p:spPr>
          <a:xfrm>
            <a:off x="3333750" y="38290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检测与跟踪置信度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A46D72-1286-4D1B-BEC1-7020727049D5}"/>
              </a:ext>
            </a:extLst>
          </p:cNvPr>
          <p:cNvSpPr>
            <a:spLocks noGrp="1"/>
          </p:cNvSpPr>
          <p:nvPr/>
        </p:nvSpPr>
        <p:spPr>
          <a:xfrm>
            <a:off x="6572250" y="371475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算法部分只需要讲清楚输入和输出：输入是摄像头画面，输出是可比较的关节角。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315E1C1-8352-4397-82D1-35D8B61BFFC5}"/>
              </a:ext>
            </a:extLst>
          </p:cNvPr>
          <p:cNvSpPr>
            <a:spLocks noGrp="1"/>
          </p:cNvSpPr>
          <p:nvPr/>
        </p:nvSpPr>
        <p:spPr>
          <a:xfrm>
            <a:off x="6572250" y="4695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67CEF9-58F0-4098-ABD2-FD4EF8FBACCF}"/>
              </a:ext>
            </a:extLst>
          </p:cNvPr>
          <p:cNvSpPr>
            <a:spLocks noGrp="1"/>
          </p:cNvSpPr>
          <p:nvPr/>
        </p:nvSpPr>
        <p:spPr>
          <a:xfrm>
            <a:off x="6781800" y="4629150"/>
            <a:ext cx="37909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滤波减少关键点抖动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2CBBD32-519B-45B7-AC54-EAA23D87DB76}"/>
              </a:ext>
            </a:extLst>
          </p:cNvPr>
          <p:cNvSpPr>
            <a:spLocks noGrp="1"/>
          </p:cNvSpPr>
          <p:nvPr/>
        </p:nvSpPr>
        <p:spPr>
          <a:xfrm>
            <a:off x="6572250" y="5114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607ACFD-9789-401A-B280-D471A56EF147}"/>
              </a:ext>
            </a:extLst>
          </p:cNvPr>
          <p:cNvSpPr>
            <a:spLocks noGrp="1"/>
          </p:cNvSpPr>
          <p:nvPr/>
        </p:nvSpPr>
        <p:spPr>
          <a:xfrm>
            <a:off x="6781800" y="5048250"/>
            <a:ext cx="37909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静止检测避免动作未稳定时误判</a:t>
            </a:r>
          </a:p>
        </p:txBody>
      </p:sp>
    </p:spTree>
    <p:extLst>
      <p:ext uri="{BB962C8B-B14F-4D97-AF65-F5344CB8AC3E}">
        <p14:creationId xmlns:p14="http://schemas.microsoft.com/office/powerpoint/2010/main" val="1806569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FE9A285-DA2C-4B33-8F1A-3BC8EB9E977D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3B5635-8502-411B-BD1B-4CE0FB2F812E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标准姿势库：前期基础支撑假期 MVP 演示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E5BD4E-6678-4234-9646-07E0F1D9CCEC}"/>
              </a:ext>
            </a:extLst>
          </p:cNvPr>
          <p:cNvSpPr>
            <a:spLocks noGrp="1"/>
          </p:cNvSpPr>
          <p:nvPr/>
        </p:nvSpPr>
        <p:spPr>
          <a:xfrm>
            <a:off x="9353550" y="4000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412FDD-81B2-4106-B198-455DAF2BDA8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9525"/>
          </a:xfrm>
          <a:prstGeom prst="rect">
            <a:avLst/>
          </a:prstGeom>
          <a:solidFill>
            <a:srgbClr val="E5DCD4"/>
          </a:solidFill>
          <a:ln w="0">
            <a:noFill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t="1060" b="1060"/>
          <a:stretch>
            <a:fillRect/>
          </a:stretch>
        </p:blipFill>
        <p:spPr>
          <a:xfrm>
            <a:off x="685800" y="1562100"/>
            <a:ext cx="5715000" cy="3733800"/>
          </a:xfrm>
          <a:prstGeom prst="roundRect">
            <a:avLst>
              <a:gd name="adj" fmla="val 2041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D4B7AA1-F56E-42D3-B839-3D5CE1050EED}"/>
              </a:ext>
            </a:extLst>
          </p:cNvPr>
          <p:cNvSpPr>
            <a:spLocks noGrp="1"/>
          </p:cNvSpPr>
          <p:nvPr/>
        </p:nvSpPr>
        <p:spPr>
          <a:xfrm>
            <a:off x="6915150" y="1676400"/>
            <a:ext cx="3905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项目已有 18 个标准姿势 JSON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C5DBDE5-F939-4A9C-B3F9-C24BAC1FF80B}"/>
              </a:ext>
            </a:extLst>
          </p:cNvPr>
          <p:cNvSpPr>
            <a:spLocks noGrp="1"/>
          </p:cNvSpPr>
          <p:nvPr/>
        </p:nvSpPr>
        <p:spPr>
          <a:xfrm>
            <a:off x="6934200" y="2466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59195D-2065-454D-9404-7901539C0F61}"/>
              </a:ext>
            </a:extLst>
          </p:cNvPr>
          <p:cNvSpPr>
            <a:spLocks noGrp="1"/>
          </p:cNvSpPr>
          <p:nvPr/>
        </p:nvSpPr>
        <p:spPr>
          <a:xfrm>
            <a:off x="7143750" y="2400300"/>
            <a:ext cx="36957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10000"/>
          </a:bodyPr>
          <a:lstStyle/>
          <a:p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每个标准姿势保存 landmarks 和 average angles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7218DB3-1E2C-447A-8146-35DF699D5F0C}"/>
              </a:ext>
            </a:extLst>
          </p:cNvPr>
          <p:cNvSpPr>
            <a:spLocks noGrp="1"/>
          </p:cNvSpPr>
          <p:nvPr/>
        </p:nvSpPr>
        <p:spPr>
          <a:xfrm>
            <a:off x="6934200" y="3000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F47334-4CB7-490E-86B0-DE727FF7659F}"/>
              </a:ext>
            </a:extLst>
          </p:cNvPr>
          <p:cNvSpPr>
            <a:spLocks noGrp="1"/>
          </p:cNvSpPr>
          <p:nvPr/>
        </p:nvSpPr>
        <p:spPr>
          <a:xfrm>
            <a:off x="7143750" y="2933700"/>
            <a:ext cx="36957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 当前固定使用 Warrior II Pose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48EDD46-B12A-4A09-88F9-9E488EC440A0}"/>
              </a:ext>
            </a:extLst>
          </p:cNvPr>
          <p:cNvSpPr>
            <a:spLocks noGrp="1"/>
          </p:cNvSpPr>
          <p:nvPr/>
        </p:nvSpPr>
        <p:spPr>
          <a:xfrm>
            <a:off x="6934200" y="3533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65C36A-CA6A-438E-A965-85D7B2BBEEAA}"/>
              </a:ext>
            </a:extLst>
          </p:cNvPr>
          <p:cNvSpPr>
            <a:spLocks noGrp="1"/>
          </p:cNvSpPr>
          <p:nvPr/>
        </p:nvSpPr>
        <p:spPr>
          <a:xfrm>
            <a:off x="7143750" y="3467100"/>
            <a:ext cx="36957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后续网页端可扩展为多姿势选择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6433B9-02DF-490C-AF26-69C02AC36E83}"/>
              </a:ext>
            </a:extLst>
          </p:cNvPr>
          <p:cNvSpPr>
            <a:spLocks noGrp="1"/>
          </p:cNvSpPr>
          <p:nvPr/>
        </p:nvSpPr>
        <p:spPr>
          <a:xfrm>
            <a:off x="6934200" y="4572000"/>
            <a:ext cx="3429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87"/>
          </a:bodyPr>
          <a:lstStyle/>
          <a:p>
            <a:pPr algn="l">
              <a:defRPr sz="14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月成果在这里作为基础，不抢占暑假工作篇幅。</a:t>
            </a:r>
          </a:p>
        </p:txBody>
      </p:sp>
    </p:spTree>
    <p:extLst>
      <p:ext uri="{BB962C8B-B14F-4D97-AF65-F5344CB8AC3E}">
        <p14:creationId xmlns:p14="http://schemas.microsoft.com/office/powerpoint/2010/main" val="1260654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5A7E1EE-0E04-4153-AB5A-27846CF479D4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784ABC-48A0-4903-83D8-4F0EE09C6571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MVP：采用 B/S 本地架构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4E50FC-59B4-424B-86DF-47485796F658}"/>
              </a:ext>
            </a:extLst>
          </p:cNvPr>
          <p:cNvSpPr>
            <a:spLocks noGrp="1"/>
          </p:cNvSpPr>
          <p:nvPr/>
        </p:nvSpPr>
        <p:spPr>
          <a:xfrm>
            <a:off x="9353550" y="4000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911C70-BBFF-4E40-B969-6A1CDC0985C8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9525"/>
          </a:xfrm>
          <a:prstGeom prst="rect">
            <a:avLst/>
          </a:prstGeom>
          <a:solidFill>
            <a:srgbClr val="E5DCD4"/>
          </a:solidFill>
          <a:ln w="0">
            <a:noFill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9D44939-0C70-4D89-8D44-532FC0DFD3C1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857500" cy="3429000"/>
          </a:xfrm>
          <a:prstGeom prst="roundRect">
            <a:avLst>
              <a:gd name="adj" fmla="val 2667"/>
            </a:avLst>
          </a:prstGeom>
          <a:solidFill>
            <a:srgbClr val="1F1112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E53F9D-06BB-449E-9F40-F5C08B6FC50F}"/>
              </a:ext>
            </a:extLst>
          </p:cNvPr>
          <p:cNvSpPr>
            <a:spLocks noGrp="1"/>
          </p:cNvSpPr>
          <p:nvPr/>
        </p:nvSpPr>
        <p:spPr>
          <a:xfrm>
            <a:off x="971550" y="20002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295" lnSpcReduction="10000"/>
          </a:bodyPr>
          <a:lstStyle/>
          <a:p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Browser 客户端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1DB403-3860-44E5-8A60-9691D8CF21BE}"/>
              </a:ext>
            </a:extLst>
          </p:cNvPr>
          <p:cNvSpPr>
            <a:spLocks noGrp="1"/>
          </p:cNvSpPr>
          <p:nvPr/>
        </p:nvSpPr>
        <p:spPr>
          <a:xfrm>
            <a:off x="971550" y="2457450"/>
            <a:ext cx="2095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负责摄像头采集、页面展示、评分结果渲染和交互按钮。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A26BB2C-9398-4A43-9100-6617A8BD0373}"/>
              </a:ext>
            </a:extLst>
          </p:cNvPr>
          <p:cNvSpPr>
            <a:spLocks noGrp="1"/>
          </p:cNvSpPr>
          <p:nvPr/>
        </p:nvSpPr>
        <p:spPr>
          <a:xfrm>
            <a:off x="4648200" y="1600200"/>
            <a:ext cx="2857500" cy="3429000"/>
          </a:xfrm>
          <a:prstGeom prst="roundRect">
            <a:avLst>
              <a:gd name="adj" fmla="val 2667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4878F6-C9A5-42D2-BA3F-01CA609CA093}"/>
              </a:ext>
            </a:extLst>
          </p:cNvPr>
          <p:cNvSpPr>
            <a:spLocks noGrp="1"/>
          </p:cNvSpPr>
          <p:nvPr/>
        </p:nvSpPr>
        <p:spPr>
          <a:xfrm>
            <a:off x="4933950" y="20002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295" lnSpcReduction="10000"/>
          </a:bodyPr>
          <a:lstStyle/>
          <a:p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Python Server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2756B6-57E1-4EF0-AC7F-60D29201F1F0}"/>
              </a:ext>
            </a:extLst>
          </p:cNvPr>
          <p:cNvSpPr>
            <a:spLocks noGrp="1"/>
          </p:cNvSpPr>
          <p:nvPr/>
        </p:nvSpPr>
        <p:spPr>
          <a:xfrm>
            <a:off x="4933950" y="2457450"/>
            <a:ext cx="20955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本机接收图像帧，运行 MediaPipe、静止检测、角度评分和触觉指令生成。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0DC28F7-0A6D-4ECF-B94C-3B6EE04606A9}"/>
              </a:ext>
            </a:extLst>
          </p:cNvPr>
          <p:cNvSpPr>
            <a:spLocks noGrp="1"/>
          </p:cNvSpPr>
          <p:nvPr/>
        </p:nvSpPr>
        <p:spPr>
          <a:xfrm>
            <a:off x="8610600" y="1600200"/>
            <a:ext cx="2381250" cy="3429000"/>
          </a:xfrm>
          <a:prstGeom prst="roundRect">
            <a:avLst>
              <a:gd name="adj" fmla="val 3200"/>
            </a:avLst>
          </a:prstGeom>
          <a:solidFill>
            <a:srgbClr val="1F1112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CB171A-A3B1-4130-9283-DA1EDA468EF1}"/>
              </a:ext>
            </a:extLst>
          </p:cNvPr>
          <p:cNvSpPr>
            <a:spLocks noGrp="1"/>
          </p:cNvSpPr>
          <p:nvPr/>
        </p:nvSpPr>
        <p:spPr>
          <a:xfrm>
            <a:off x="8896350" y="200025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295" lnSpcReduction="10000"/>
          </a:bodyPr>
          <a:lstStyle/>
          <a:p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61DC09-24E8-4BEC-ACFC-4BB658FB9D74}"/>
              </a:ext>
            </a:extLst>
          </p:cNvPr>
          <p:cNvSpPr>
            <a:spLocks noGrp="1"/>
          </p:cNvSpPr>
          <p:nvPr/>
        </p:nvSpPr>
        <p:spPr>
          <a:xfrm>
            <a:off x="8896350" y="2457450"/>
            <a:ext cx="16192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通过 USB 串口接收方向和强度，驱动左手环四个马达。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029D00-E85F-4249-BF7C-44350E85A7C2}"/>
              </a:ext>
            </a:extLst>
          </p:cNvPr>
          <p:cNvSpPr>
            <a:spLocks noGrp="1"/>
          </p:cNvSpPr>
          <p:nvPr/>
        </p:nvSpPr>
        <p:spPr>
          <a:xfrm>
            <a:off x="819150" y="5581650"/>
            <a:ext cx="8763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当前传输内容：JPEG 摄像头帧。不是浏览器端已经算好的肢体点阵。</a:t>
            </a:r>
          </a:p>
        </p:txBody>
      </p:sp>
    </p:spTree>
    <p:extLst>
      <p:ext uri="{BB962C8B-B14F-4D97-AF65-F5344CB8AC3E}">
        <p14:creationId xmlns:p14="http://schemas.microsoft.com/office/powerpoint/2010/main" val="43646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90DDFB-9485-42B4-904C-12B0D1523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2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022C38A-23D3-4D21-899D-1A7894696233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3B3115-E813-4775-9A2E-8D1431B22B9A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本机服务器负责计算，浏览器负责采集和展示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D1A707-0719-4E44-97CB-836A55DFB41D}"/>
              </a:ext>
            </a:extLst>
          </p:cNvPr>
          <p:cNvSpPr>
            <a:spLocks noGrp="1"/>
          </p:cNvSpPr>
          <p:nvPr/>
        </p:nvSpPr>
        <p:spPr>
          <a:xfrm>
            <a:off x="9353550" y="4000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6CD859-132F-42E4-B512-811100C9C120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9525"/>
          </a:xfrm>
          <a:prstGeom prst="rect">
            <a:avLst/>
          </a:prstGeom>
          <a:solidFill>
            <a:srgbClr val="E5DCD4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259EF-DE02-4BDF-A918-976B76D0E85B}"/>
              </a:ext>
            </a:extLst>
          </p:cNvPr>
          <p:cNvSpPr>
            <a:spLocks noGrp="1"/>
          </p:cNvSpPr>
          <p:nvPr/>
        </p:nvSpPr>
        <p:spPr>
          <a:xfrm>
            <a:off x="704850" y="171450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83DF79-888D-43C8-A3C6-480D8771B196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2190750" cy="19050"/>
          </a:xfrm>
          <a:prstGeom prst="rect">
            <a:avLst/>
          </a:prstGeom>
          <a:solidFill>
            <a:srgbClr val="201515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34350B-80EC-42FF-BB98-2B1E36BB9D02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 lnSpcReduction="10000"/>
          </a:bodyPr>
          <a:lstStyle/>
          <a:p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9DB718-B784-48F2-A296-AADF8EE7C316}"/>
              </a:ext>
            </a:extLst>
          </p:cNvPr>
          <p:cNvSpPr>
            <a:spLocks noGrp="1"/>
          </p:cNvSpPr>
          <p:nvPr/>
        </p:nvSpPr>
        <p:spPr>
          <a:xfrm>
            <a:off x="704850" y="2590800"/>
            <a:ext cx="2190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浏览器调用摄像头，生成 JPEG 帧。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696992-BF01-49BA-B3FA-AFFCF28DC0F1}"/>
              </a:ext>
            </a:extLst>
          </p:cNvPr>
          <p:cNvSpPr>
            <a:spLocks noGrp="1"/>
          </p:cNvSpPr>
          <p:nvPr/>
        </p:nvSpPr>
        <p:spPr>
          <a:xfrm>
            <a:off x="3219450" y="171450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40CE67-AFDB-4ACF-85E3-0B9F4B504CD3}"/>
              </a:ext>
            </a:extLst>
          </p:cNvPr>
          <p:cNvSpPr>
            <a:spLocks noGrp="1"/>
          </p:cNvSpPr>
          <p:nvPr/>
        </p:nvSpPr>
        <p:spPr>
          <a:xfrm>
            <a:off x="3219450" y="2019300"/>
            <a:ext cx="2190750" cy="19050"/>
          </a:xfrm>
          <a:prstGeom prst="rect">
            <a:avLst/>
          </a:prstGeom>
          <a:solidFill>
            <a:srgbClr val="20151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A24AED-8DDB-4855-A759-937FBA0A7EC8}"/>
              </a:ext>
            </a:extLst>
          </p:cNvPr>
          <p:cNvSpPr>
            <a:spLocks noGrp="1"/>
          </p:cNvSpPr>
          <p:nvPr/>
        </p:nvSpPr>
        <p:spPr>
          <a:xfrm>
            <a:off x="3219450" y="22098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 lnSpcReduction="10000"/>
          </a:bodyPr>
          <a:lstStyle/>
          <a:p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62901F-A4A0-45EA-BB38-B8547D58D90C}"/>
              </a:ext>
            </a:extLst>
          </p:cNvPr>
          <p:cNvSpPr>
            <a:spLocks noGrp="1"/>
          </p:cNvSpPr>
          <p:nvPr/>
        </p:nvSpPr>
        <p:spPr>
          <a:xfrm>
            <a:off x="3219450" y="2590800"/>
            <a:ext cx="2190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到本机 /api/frame。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9C4F96-0F5D-47FD-90AC-ABF553A5C905}"/>
              </a:ext>
            </a:extLst>
          </p:cNvPr>
          <p:cNvSpPr>
            <a:spLocks noGrp="1"/>
          </p:cNvSpPr>
          <p:nvPr/>
        </p:nvSpPr>
        <p:spPr>
          <a:xfrm>
            <a:off x="5734050" y="171450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EBEDE5-94D6-4118-9694-75C48F92487B}"/>
              </a:ext>
            </a:extLst>
          </p:cNvPr>
          <p:cNvSpPr>
            <a:spLocks noGrp="1"/>
          </p:cNvSpPr>
          <p:nvPr/>
        </p:nvSpPr>
        <p:spPr>
          <a:xfrm>
            <a:off x="5734050" y="2019300"/>
            <a:ext cx="2190750" cy="19050"/>
          </a:xfrm>
          <a:prstGeom prst="rect">
            <a:avLst/>
          </a:prstGeom>
          <a:solidFill>
            <a:srgbClr val="201515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45270B-F70E-42AD-A8FB-B99C8255DACA}"/>
              </a:ext>
            </a:extLst>
          </p:cNvPr>
          <p:cNvSpPr>
            <a:spLocks noGrp="1"/>
          </p:cNvSpPr>
          <p:nvPr/>
        </p:nvSpPr>
        <p:spPr>
          <a:xfrm>
            <a:off x="5734050" y="22098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 lnSpcReduction="10000"/>
          </a:bodyPr>
          <a:lstStyle/>
          <a:p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0606D8-9BAC-4189-B391-B3680B503462}"/>
              </a:ext>
            </a:extLst>
          </p:cNvPr>
          <p:cNvSpPr>
            <a:spLocks noGrp="1"/>
          </p:cNvSpPr>
          <p:nvPr/>
        </p:nvSpPr>
        <p:spPr>
          <a:xfrm>
            <a:off x="5734050" y="2590800"/>
            <a:ext cx="2190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Python 服务计算关键点、关节角和评分。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730D2F7-C38F-43B9-8D6B-6B8917CC4CB0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693D9E-D67F-4FAA-A113-716BC90292F5}"/>
              </a:ext>
            </a:extLst>
          </p:cNvPr>
          <p:cNvSpPr>
            <a:spLocks noGrp="1"/>
          </p:cNvSpPr>
          <p:nvPr/>
        </p:nvSpPr>
        <p:spPr>
          <a:xfrm>
            <a:off x="8248650" y="2019300"/>
            <a:ext cx="2476500" cy="19050"/>
          </a:xfrm>
          <a:prstGeom prst="rect">
            <a:avLst/>
          </a:prstGeom>
          <a:solidFill>
            <a:srgbClr val="201515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CEFA75-9891-4553-A04D-52243CC397ED}"/>
              </a:ext>
            </a:extLst>
          </p:cNvPr>
          <p:cNvSpPr>
            <a:spLocks noGrp="1"/>
          </p:cNvSpPr>
          <p:nvPr/>
        </p:nvSpPr>
        <p:spPr>
          <a:xfrm>
            <a:off x="8248650" y="22098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 lnSpcReduction="10000"/>
          </a:bodyPr>
          <a:lstStyle/>
          <a:p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E8F75-064E-4996-AE1E-7F5925E14204}"/>
              </a:ext>
            </a:extLst>
          </p:cNvPr>
          <p:cNvSpPr>
            <a:spLocks noGrp="1"/>
          </p:cNvSpPr>
          <p:nvPr/>
        </p:nvSpPr>
        <p:spPr>
          <a:xfrm>
            <a:off x="8248650" y="259080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页面更新结果，服务器发送手环指令。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63C7F4C-7E3A-4891-8E34-4A3E73164456}"/>
              </a:ext>
            </a:extLst>
          </p:cNvPr>
          <p:cNvSpPr>
            <a:spLocks noGrp="1"/>
          </p:cNvSpPr>
          <p:nvPr/>
        </p:nvSpPr>
        <p:spPr>
          <a:xfrm>
            <a:off x="1009650" y="4171950"/>
            <a:ext cx="9001125" cy="800100"/>
          </a:xfrm>
          <a:prstGeom prst="roundRect">
            <a:avLst>
              <a:gd name="adj" fmla="val 9524"/>
            </a:avLst>
          </a:prstGeom>
          <a:solidFill>
            <a:srgbClr val="FFE4D6"/>
          </a:solidFill>
          <a:ln w="9525">
            <a:solidFill>
              <a:srgbClr val="FFD1BB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333125-88EC-4974-B898-3E82525B002F}"/>
              </a:ext>
            </a:extLst>
          </p:cNvPr>
          <p:cNvSpPr>
            <a:spLocks noGrp="1"/>
          </p:cNvSpPr>
          <p:nvPr/>
        </p:nvSpPr>
        <p:spPr>
          <a:xfrm>
            <a:off x="1295400" y="43434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78" lnSpcReduction="10000"/>
          </a:bodyPr>
          <a:lstStyle/>
          <a:p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为什么先做本地服务器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54E8CAC-FBDE-44B7-ACC8-0A50519ADC04}"/>
              </a:ext>
            </a:extLst>
          </p:cNvPr>
          <p:cNvSpPr>
            <a:spLocks noGrp="1"/>
          </p:cNvSpPr>
          <p:nvPr/>
        </p:nvSpPr>
        <p:spPr>
          <a:xfrm>
            <a:off x="4057650" y="4324350"/>
            <a:ext cx="5429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539" lnSpcReduction="10000"/>
          </a:bodyPr>
          <a:lstStyle/>
          <a:p>
            <a:pPr algn="l">
              <a:defRPr sz="142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延迟低，摄像头画面不离开电脑，USB 手环控制也更直接。后续跨设备访问时，需要把 HTTP 升级为 HTTPS 或 WSS。</a:t>
            </a:r>
          </a:p>
        </p:txBody>
      </p:sp>
    </p:spTree>
    <p:extLst>
      <p:ext uri="{BB962C8B-B14F-4D97-AF65-F5344CB8AC3E}">
        <p14:creationId xmlns:p14="http://schemas.microsoft.com/office/powerpoint/2010/main" val="2107202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A828E2-AFC9-444A-9D93-B19149DD54A6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61324E-FC86-41DB-8C03-1DDA026C0D6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网页界面：一页完成练习、评分和手环状态展示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A19C3C-694F-4192-89E5-B59BAB2F40E4}"/>
              </a:ext>
            </a:extLst>
          </p:cNvPr>
          <p:cNvSpPr>
            <a:spLocks noGrp="1"/>
          </p:cNvSpPr>
          <p:nvPr/>
        </p:nvSpPr>
        <p:spPr>
          <a:xfrm>
            <a:off x="9353550" y="4000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CE48CD-6D47-4256-A5AD-398495FA25B6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9525"/>
          </a:xfrm>
          <a:prstGeom prst="rect">
            <a:avLst/>
          </a:prstGeom>
          <a:solidFill>
            <a:srgbClr val="E5DCD4"/>
          </a:solidFill>
          <a:ln w="0">
            <a:noFill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l="172" r="172"/>
          <a:stretch>
            <a:fillRect/>
          </a:stretch>
        </p:blipFill>
        <p:spPr>
          <a:xfrm>
            <a:off x="571500" y="1428750"/>
            <a:ext cx="6477000" cy="3829050"/>
          </a:xfrm>
          <a:prstGeom prst="roundRect">
            <a:avLst>
              <a:gd name="adj" fmla="val 1990"/>
            </a:avLst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t="9666" b="9666"/>
          <a:stretch>
            <a:fillRect/>
          </a:stretch>
        </p:blipFill>
        <p:spPr>
          <a:xfrm>
            <a:off x="7334250" y="1428750"/>
            <a:ext cx="3714750" cy="1695450"/>
          </a:xfrm>
          <a:prstGeom prst="roundRect">
            <a:avLst>
              <a:gd name="adj" fmla="val 4494"/>
            </a:avLst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rcRect t="22934" b="22934"/>
          <a:stretch>
            <a:fillRect/>
          </a:stretch>
        </p:blipFill>
        <p:spPr>
          <a:xfrm>
            <a:off x="7334250" y="3524250"/>
            <a:ext cx="3714750" cy="1695450"/>
          </a:xfrm>
          <a:prstGeom prst="roundRect">
            <a:avLst>
              <a:gd name="adj" fmla="val 4494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84EF595-B10B-48EB-9E2E-477743977D40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167" lnSpcReduction="10000"/>
          </a:bodyPr>
          <a:lstStyle/>
          <a:p>
            <a:pPr algn="l">
              <a:def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页面模块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52BAFD-9D81-4543-8EF6-A12F6A0E29B0}"/>
              </a:ext>
            </a:extLst>
          </p:cNvPr>
          <p:cNvSpPr>
            <a:spLocks noGrp="1"/>
          </p:cNvSpPr>
          <p:nvPr/>
        </p:nvSpPr>
        <p:spPr>
          <a:xfrm>
            <a:off x="1809750" y="5524500"/>
            <a:ext cx="8001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摄像头画面、目标姿势、评分条、关节列表、USB 状态和左手环方向在同一工作台中展示。</a:t>
            </a:r>
          </a:p>
        </p:txBody>
      </p:sp>
    </p:spTree>
    <p:extLst>
      <p:ext uri="{BB962C8B-B14F-4D97-AF65-F5344CB8AC3E}">
        <p14:creationId xmlns:p14="http://schemas.microsoft.com/office/powerpoint/2010/main" val="127805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5E1B65A-23F8-4355-8743-E5A51D7420B0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C78836-C08B-4AF5-8CEF-2689557F5FDD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触觉反馈：把最大角度偏差转成一个震动方向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622EC2-E8E1-4D3C-85EA-6D0E34CD8CE7}"/>
              </a:ext>
            </a:extLst>
          </p:cNvPr>
          <p:cNvSpPr>
            <a:spLocks noGrp="1"/>
          </p:cNvSpPr>
          <p:nvPr/>
        </p:nvSpPr>
        <p:spPr>
          <a:xfrm>
            <a:off x="9353550" y="4000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E80967-E1AF-45A1-8376-EE4BF8F01B3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9525"/>
          </a:xfrm>
          <a:prstGeom prst="rect">
            <a:avLst/>
          </a:prstGeom>
          <a:solidFill>
            <a:srgbClr val="E5DCD4"/>
          </a:solidFill>
          <a:ln w="0">
            <a:noFill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5523" b="5523"/>
          <a:stretch>
            <a:fillRect/>
          </a:stretch>
        </p:blipFill>
        <p:spPr>
          <a:xfrm>
            <a:off x="6724650" y="1657350"/>
            <a:ext cx="4000500" cy="3000375"/>
          </a:xfrm>
          <a:prstGeom prst="roundRect">
            <a:avLst>
              <a:gd name="adj" fmla="val 2540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A2399D8-6A5B-478A-8604-E3BC2DBD83F4}"/>
              </a:ext>
            </a:extLst>
          </p:cNvPr>
          <p:cNvSpPr>
            <a:spLocks noGrp="1"/>
          </p:cNvSpPr>
          <p:nvPr/>
        </p:nvSpPr>
        <p:spPr>
          <a:xfrm>
            <a:off x="800100" y="1819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7E1456-F700-4C38-9A24-3A14D5149D77}"/>
              </a:ext>
            </a:extLst>
          </p:cNvPr>
          <p:cNvSpPr>
            <a:spLocks noGrp="1"/>
          </p:cNvSpPr>
          <p:nvPr/>
        </p:nvSpPr>
        <p:spPr>
          <a:xfrm>
            <a:off x="1009650" y="1752600"/>
            <a:ext cx="47434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当前 MVP 使用已验证的左手环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984DEBD-32A1-4745-A882-4645C91A35BC}"/>
              </a:ext>
            </a:extLst>
          </p:cNvPr>
          <p:cNvSpPr>
            <a:spLocks noGrp="1"/>
          </p:cNvSpPr>
          <p:nvPr/>
        </p:nvSpPr>
        <p:spPr>
          <a:xfrm>
            <a:off x="800100" y="2371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49EB09-E7F0-4498-860F-630413375BD8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47434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每次只发送优先级最高的一个纠正方向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BF8260D-2FA1-40A5-98F0-E39A5CC7CEE5}"/>
              </a:ext>
            </a:extLst>
          </p:cNvPr>
          <p:cNvSpPr>
            <a:spLocks noGrp="1"/>
          </p:cNvSpPr>
          <p:nvPr/>
        </p:nvSpPr>
        <p:spPr>
          <a:xfrm>
            <a:off x="800100" y="2924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C08D55-8C00-494F-845E-51C015A0EC95}"/>
              </a:ext>
            </a:extLst>
          </p:cNvPr>
          <p:cNvSpPr>
            <a:spLocks noGrp="1"/>
          </p:cNvSpPr>
          <p:nvPr/>
        </p:nvSpPr>
        <p:spPr>
          <a:xfrm>
            <a:off x="1009650" y="2857500"/>
            <a:ext cx="47434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方向映射：上 M2、下 M0、左 M1、右 M3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3DF325-3143-4694-83CB-BBCBB49D0938}"/>
              </a:ext>
            </a:extLst>
          </p:cNvPr>
          <p:cNvSpPr>
            <a:spLocks noGrp="1"/>
          </p:cNvSpPr>
          <p:nvPr/>
        </p:nvSpPr>
        <p:spPr>
          <a:xfrm>
            <a:off x="800100" y="3476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671D94-6674-4D03-A4B9-FE472BCBAE83}"/>
              </a:ext>
            </a:extLst>
          </p:cNvPr>
          <p:cNvSpPr>
            <a:spLocks noGrp="1"/>
          </p:cNvSpPr>
          <p:nvPr/>
        </p:nvSpPr>
        <p:spPr>
          <a:xfrm>
            <a:off x="1009650" y="3409950"/>
            <a:ext cx="47434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强度随偏差比例提升：150、200、255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48CAE4-8E9F-47F3-81E2-49F336E58E92}"/>
              </a:ext>
            </a:extLst>
          </p:cNvPr>
          <p:cNvSpPr>
            <a:spLocks noGrp="1"/>
          </p:cNvSpPr>
          <p:nvPr/>
        </p:nvSpPr>
        <p:spPr>
          <a:xfrm>
            <a:off x="819150" y="4914900"/>
            <a:ext cx="4762500" cy="647700"/>
          </a:xfrm>
          <a:prstGeom prst="roundRect">
            <a:avLst>
              <a:gd name="adj" fmla="val 11765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B20328-8693-433E-92CD-1D0A59E7D8ED}"/>
              </a:ext>
            </a:extLst>
          </p:cNvPr>
          <p:cNvSpPr>
            <a:spLocks noGrp="1"/>
          </p:cNvSpPr>
          <p:nvPr/>
        </p:nvSpPr>
        <p:spPr>
          <a:xfrm>
            <a:off x="1066800" y="51054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167" lnSpcReduction="10000"/>
          </a:bodyPr>
          <a:lstStyle/>
          <a:p>
            <a:pPr algn="l">
              <a:def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129C76-2537-49F0-82C9-EE93CE3694A1}"/>
              </a:ext>
            </a:extLst>
          </p:cNvPr>
          <p:cNvSpPr>
            <a:spLocks noGrp="1"/>
          </p:cNvSpPr>
          <p:nvPr/>
        </p:nvSpPr>
        <p:spPr>
          <a:xfrm>
            <a:off x="2133600" y="50863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431" lnSpcReduction="10000"/>
          </a:bodyPr>
          <a:lstStyle/>
          <a:p>
            <a:pPr algn="l">
              <a:def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手环不是只震动提醒，而是承担“方向引导”的角色。</a:t>
            </a:r>
          </a:p>
        </p:txBody>
      </p:sp>
    </p:spTree>
    <p:extLst>
      <p:ext uri="{BB962C8B-B14F-4D97-AF65-F5344CB8AC3E}">
        <p14:creationId xmlns:p14="http://schemas.microsoft.com/office/powerpoint/2010/main" val="1158935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3F1F9D08-7873-4295-B9CA-319E0085AC92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C85E4A-8396-4B46-9347-44203F9970D8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硬件通信：USB 串口闭环和停震保护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F47ABD-AACA-4704-A6CF-AA22C43E79AD}"/>
              </a:ext>
            </a:extLst>
          </p:cNvPr>
          <p:cNvSpPr>
            <a:spLocks noGrp="1"/>
          </p:cNvSpPr>
          <p:nvPr/>
        </p:nvSpPr>
        <p:spPr>
          <a:xfrm>
            <a:off x="9353550" y="4000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1B895F-870F-422F-95C6-3B8A9DB9AADA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9525"/>
          </a:xfrm>
          <a:prstGeom prst="rect">
            <a:avLst/>
          </a:prstGeom>
          <a:solidFill>
            <a:srgbClr val="E5DCD4"/>
          </a:solidFill>
          <a:ln w="0">
            <a:noFill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E0BE0F0-4EEE-45BE-9EE9-B5AD2F9937AC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9810750" cy="1047750"/>
          </a:xfrm>
          <a:prstGeom prst="roundRect">
            <a:avLst>
              <a:gd name="adj" fmla="val 7273"/>
            </a:avLst>
          </a:prstGeom>
          <a:solidFill>
            <a:srgbClr val="1F1112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382080-5EE1-42A2-A8E9-0343A552DAF5}"/>
              </a:ext>
            </a:extLst>
          </p:cNvPr>
          <p:cNvSpPr>
            <a:spLocks noGrp="1"/>
          </p:cNvSpPr>
          <p:nvPr/>
        </p:nvSpPr>
        <p:spPr>
          <a:xfrm>
            <a:off x="1104900" y="1924050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314" lnSpcReduction="10000"/>
          </a:bodyPr>
          <a:lstStyle/>
          <a:p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L:2,150 R:N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4CC15E-F35F-41CC-B126-AD67577CCD8E}"/>
              </a:ext>
            </a:extLst>
          </p:cNvPr>
          <p:cNvSpPr>
            <a:spLocks noGrp="1"/>
          </p:cNvSpPr>
          <p:nvPr/>
        </p:nvSpPr>
        <p:spPr>
          <a:xfrm>
            <a:off x="4095750" y="1981200"/>
            <a:ext cx="5334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057"/>
          </a:bodyPr>
          <a:lstStyle/>
          <a:p>
            <a:pPr algn="l">
              <a:defRPr sz="16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示例含义：左手环 M2 以 150 强度震动，右手环无动作。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DB0438C-BA9D-42F1-BD2B-0014716AD925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ECA861-700A-44B7-A46C-2AAE4097D63C}"/>
              </a:ext>
            </a:extLst>
          </p:cNvPr>
          <p:cNvSpPr>
            <a:spLocks noGrp="1"/>
          </p:cNvSpPr>
          <p:nvPr/>
        </p:nvSpPr>
        <p:spPr>
          <a:xfrm>
            <a:off x="971550" y="35052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115200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7D9993-5DDC-4304-A7F6-473A050C91FA}"/>
              </a:ext>
            </a:extLst>
          </p:cNvPr>
          <p:cNvSpPr>
            <a:spLocks noGrp="1"/>
          </p:cNvSpPr>
          <p:nvPr/>
        </p:nvSpPr>
        <p:spPr>
          <a:xfrm>
            <a:off x="971550" y="396240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串口波特率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6425A99-E30F-48ED-9696-935E92309B2B}"/>
              </a:ext>
            </a:extLst>
          </p:cNvPr>
          <p:cNvSpPr>
            <a:spLocks noGrp="1"/>
          </p:cNvSpPr>
          <p:nvPr/>
        </p:nvSpPr>
        <p:spPr>
          <a:xfrm>
            <a:off x="3314700" y="33337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429072-73FC-4675-833C-4448CD2FD63B}"/>
              </a:ext>
            </a:extLst>
          </p:cNvPr>
          <p:cNvSpPr>
            <a:spLocks noGrp="1"/>
          </p:cNvSpPr>
          <p:nvPr/>
        </p:nvSpPr>
        <p:spPr>
          <a:xfrm>
            <a:off x="3505200" y="35052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0.75s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269B84-FA54-4FC1-A7B7-F736FE527639}"/>
              </a:ext>
            </a:extLst>
          </p:cNvPr>
          <p:cNvSpPr>
            <a:spLocks noGrp="1"/>
          </p:cNvSpPr>
          <p:nvPr/>
        </p:nvSpPr>
        <p:spPr>
          <a:xfrm>
            <a:off x="3505200" y="396240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电脑端保活间隔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FA76FE9-7C40-44CE-96CA-C3F819E756D3}"/>
              </a:ext>
            </a:extLst>
          </p:cNvPr>
          <p:cNvSpPr>
            <a:spLocks noGrp="1"/>
          </p:cNvSpPr>
          <p:nvPr/>
        </p:nvSpPr>
        <p:spPr>
          <a:xfrm>
            <a:off x="5848350" y="33337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50E677-48F6-410A-B6B1-0AB572D37AD9}"/>
              </a:ext>
            </a:extLst>
          </p:cNvPr>
          <p:cNvSpPr>
            <a:spLocks noGrp="1"/>
          </p:cNvSpPr>
          <p:nvPr/>
        </p:nvSpPr>
        <p:spPr>
          <a:xfrm>
            <a:off x="6038850" y="35052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2s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DE7767-29EC-487A-B956-7188EADB1FFF}"/>
              </a:ext>
            </a:extLst>
          </p:cNvPr>
          <p:cNvSpPr>
            <a:spLocks noGrp="1"/>
          </p:cNvSpPr>
          <p:nvPr/>
        </p:nvSpPr>
        <p:spPr>
          <a:xfrm>
            <a:off x="6038850" y="396240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固件无命令自动停震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9B7FA9C-1ECE-4D91-AF68-EC8ECCA8A688}"/>
              </a:ext>
            </a:extLst>
          </p:cNvPr>
          <p:cNvSpPr>
            <a:spLocks noGrp="1"/>
          </p:cNvSpPr>
          <p:nvPr/>
        </p:nvSpPr>
        <p:spPr>
          <a:xfrm>
            <a:off x="8382000" y="33337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8F4F0"/>
          </a:solidFill>
          <a:ln w="9525">
            <a:solidFill>
              <a:srgbClr val="E5DCD4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072105-5F3B-42C4-B2A9-CBF7C8F4CBC7}"/>
              </a:ext>
            </a:extLst>
          </p:cNvPr>
          <p:cNvSpPr>
            <a:spLocks noGrp="1"/>
          </p:cNvSpPr>
          <p:nvPr/>
        </p:nvSpPr>
        <p:spPr>
          <a:xfrm>
            <a:off x="8572500" y="35052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 algn="l">
              <a:def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COM9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D1A3DB-06B0-4ED4-91BC-985349497194}"/>
              </a:ext>
            </a:extLst>
          </p:cNvPr>
          <p:cNvSpPr>
            <a:spLocks noGrp="1"/>
          </p:cNvSpPr>
          <p:nvPr/>
        </p:nvSpPr>
        <p:spPr>
          <a:xfrm>
            <a:off x="8572500" y="396240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默认手环串口，可覆盖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523DC0-A83B-42F3-BCBE-AE187526B1AD}"/>
              </a:ext>
            </a:extLst>
          </p:cNvPr>
          <p:cNvSpPr>
            <a:spLocks noGrp="1"/>
          </p:cNvSpPr>
          <p:nvPr/>
        </p:nvSpPr>
        <p:spPr>
          <a:xfrm>
            <a:off x="819150" y="5543550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 lnSpcReduction="10000"/>
          </a:bodyPr>
          <a:lstStyle/>
          <a:p>
            <a:pPr algn="l">
              <a:defRPr sz="1500" b="1">
                <a:solidFill>
                  <a:srgbClr val="C753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5327"/>
                </a:solidFill>
                <a:latin typeface="Microsoft YaHei"/>
                <a:ea typeface="Microsoft YaHei"/>
                <a:cs typeface="Microsoft YaHei"/>
              </a:rPr>
              <a:t>边界说明：BLE 已有迁移方案，但当前汇报不要说成已完成。</a:t>
            </a:r>
          </a:p>
        </p:txBody>
      </p:sp>
    </p:spTree>
    <p:extLst>
      <p:ext uri="{BB962C8B-B14F-4D97-AF65-F5344CB8AC3E}">
        <p14:creationId xmlns:p14="http://schemas.microsoft.com/office/powerpoint/2010/main" val="1201483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2DA3C092-0434-4BC9-86AF-1C755728B92D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05 总结与计划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464965-873A-4BEA-BADF-935A4E39DFF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总结与下一步：从可演示 MVP 走向无线化和多动作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10879D-5B36-4A24-9CFA-8A61DBD13B06}"/>
              </a:ext>
            </a:extLst>
          </p:cNvPr>
          <p:cNvSpPr>
            <a:spLocks noGrp="1"/>
          </p:cNvSpPr>
          <p:nvPr/>
        </p:nvSpPr>
        <p:spPr>
          <a:xfrm>
            <a:off x="9353550" y="4000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 algn="r"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3CAF48-9651-4242-BD90-007F44A76981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9525"/>
          </a:xfrm>
          <a:prstGeom prst="rect">
            <a:avLst/>
          </a:prstGeom>
          <a:solidFill>
            <a:srgbClr val="E5DCD4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37CCE3-74E1-41B5-B39B-69C36BAE00CC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3810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071" lnSpcReduction="10000"/>
          </a:bodyPr>
          <a:lstStyle/>
          <a:p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暑假完成的核心成果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ABF9A69-7C46-41A7-B313-918457DFE5C5}"/>
              </a:ext>
            </a:extLst>
          </p:cNvPr>
          <p:cNvSpPr>
            <a:spLocks noGrp="1"/>
          </p:cNvSpPr>
          <p:nvPr/>
        </p:nvSpPr>
        <p:spPr>
          <a:xfrm>
            <a:off x="800100" y="2238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5A966E-0655-42B4-BAB0-3FFF8309B2FF}"/>
              </a:ext>
            </a:extLst>
          </p:cNvPr>
          <p:cNvSpPr>
            <a:spLocks noGrp="1"/>
          </p:cNvSpPr>
          <p:nvPr/>
        </p:nvSpPr>
        <p:spPr>
          <a:xfrm>
            <a:off x="1009650" y="2171700"/>
            <a:ext cx="47434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形成 Warrior II 网页练习工作台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07A2C41-697C-49ED-86E0-281192B1167C}"/>
              </a:ext>
            </a:extLst>
          </p:cNvPr>
          <p:cNvSpPr>
            <a:spLocks noGrp="1"/>
          </p:cNvSpPr>
          <p:nvPr/>
        </p:nvSpPr>
        <p:spPr>
          <a:xfrm>
            <a:off x="800100" y="2790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4509E3-5E32-4E24-8F6D-D27202719FB7}"/>
              </a:ext>
            </a:extLst>
          </p:cNvPr>
          <p:cNvSpPr>
            <a:spLocks noGrp="1"/>
          </p:cNvSpPr>
          <p:nvPr/>
        </p:nvSpPr>
        <p:spPr>
          <a:xfrm>
            <a:off x="1009650" y="2724150"/>
            <a:ext cx="47434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跑通本机视觉计算到左手环震动的闭环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646C873-73DF-466F-81AA-27089FF848D4}"/>
              </a:ext>
            </a:extLst>
          </p:cNvPr>
          <p:cNvSpPr>
            <a:spLocks noGrp="1"/>
          </p:cNvSpPr>
          <p:nvPr/>
        </p:nvSpPr>
        <p:spPr>
          <a:xfrm>
            <a:off x="800100" y="3343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93EAC8-6019-4FDD-895A-49EBAED5786B}"/>
              </a:ext>
            </a:extLst>
          </p:cNvPr>
          <p:cNvSpPr>
            <a:spLocks noGrp="1"/>
          </p:cNvSpPr>
          <p:nvPr/>
        </p:nvSpPr>
        <p:spPr>
          <a:xfrm>
            <a:off x="1009650" y="3276600"/>
            <a:ext cx="47434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明确 USB MVP、BLE 待迁移和双手环待扩展的边界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EEEC5E-BB6A-4B15-A83A-AC6596B7AA07}"/>
              </a:ext>
            </a:extLst>
          </p:cNvPr>
          <p:cNvSpPr>
            <a:spLocks noGrp="1"/>
          </p:cNvSpPr>
          <p:nvPr/>
        </p:nvSpPr>
        <p:spPr>
          <a:xfrm>
            <a:off x="6858000" y="160020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071" lnSpcReduction="10000"/>
          </a:bodyPr>
          <a:lstStyle/>
          <a:p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后续计划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7CAFCCD-5AA9-4D96-9146-A457DCE1D367}"/>
              </a:ext>
            </a:extLst>
          </p:cNvPr>
          <p:cNvSpPr>
            <a:spLocks noGrp="1"/>
          </p:cNvSpPr>
          <p:nvPr/>
        </p:nvSpPr>
        <p:spPr>
          <a:xfrm>
            <a:off x="6877050" y="2238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7AD8CE-0D45-4822-9727-42FCB45B93D1}"/>
              </a:ext>
            </a:extLst>
          </p:cNvPr>
          <p:cNvSpPr>
            <a:spLocks noGrp="1"/>
          </p:cNvSpPr>
          <p:nvPr/>
        </p:nvSpPr>
        <p:spPr>
          <a:xfrm>
            <a:off x="7086600" y="2171700"/>
            <a:ext cx="38862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BLE GATT 替代 USB 串口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D4AF8BC-3E01-4C9D-9396-BFB2874004FE}"/>
              </a:ext>
            </a:extLst>
          </p:cNvPr>
          <p:cNvSpPr>
            <a:spLocks noGrp="1"/>
          </p:cNvSpPr>
          <p:nvPr/>
        </p:nvSpPr>
        <p:spPr>
          <a:xfrm>
            <a:off x="6877050" y="2752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44E0ED-BA86-4029-A3F4-E14E7B581006}"/>
              </a:ext>
            </a:extLst>
          </p:cNvPr>
          <p:cNvSpPr>
            <a:spLocks noGrp="1"/>
          </p:cNvSpPr>
          <p:nvPr/>
        </p:nvSpPr>
        <p:spPr>
          <a:xfrm>
            <a:off x="7086600" y="2686050"/>
            <a:ext cx="38862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扩展双手环 GPIO 和固件协议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155C5A7-7645-4FC5-98C9-CC52BB533F95}"/>
              </a:ext>
            </a:extLst>
          </p:cNvPr>
          <p:cNvSpPr>
            <a:spLocks noGrp="1"/>
          </p:cNvSpPr>
          <p:nvPr/>
        </p:nvSpPr>
        <p:spPr>
          <a:xfrm>
            <a:off x="6877050" y="3267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3344C4-A501-4BCE-A35B-CACE0A504BD5}"/>
              </a:ext>
            </a:extLst>
          </p:cNvPr>
          <p:cNvSpPr>
            <a:spLocks noGrp="1"/>
          </p:cNvSpPr>
          <p:nvPr/>
        </p:nvSpPr>
        <p:spPr>
          <a:xfrm>
            <a:off x="7086600" y="3200400"/>
            <a:ext cx="38862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网页端支持多姿势选择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8A03FE4-68D7-4053-886D-3E76A21F4BE5}"/>
              </a:ext>
            </a:extLst>
          </p:cNvPr>
          <p:cNvSpPr>
            <a:spLocks noGrp="1"/>
          </p:cNvSpPr>
          <p:nvPr/>
        </p:nvSpPr>
        <p:spPr>
          <a:xfrm>
            <a:off x="6877050" y="37814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F00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27A95E-1368-4BD3-B122-83734BE0B933}"/>
              </a:ext>
            </a:extLst>
          </p:cNvPr>
          <p:cNvSpPr>
            <a:spLocks noGrp="1"/>
          </p:cNvSpPr>
          <p:nvPr/>
        </p:nvSpPr>
        <p:spPr>
          <a:xfrm>
            <a:off x="7086600" y="3714750"/>
            <a:ext cx="38862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补充真实用户测试和长期稳定性验证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61BE458-80A8-44A3-8EA5-CBE6A64F4095}"/>
              </a:ext>
            </a:extLst>
          </p:cNvPr>
          <p:cNvSpPr>
            <a:spLocks noGrp="1"/>
          </p:cNvSpPr>
          <p:nvPr/>
        </p:nvSpPr>
        <p:spPr>
          <a:xfrm>
            <a:off x="800100" y="5314950"/>
            <a:ext cx="9486900" cy="571500"/>
          </a:xfrm>
          <a:prstGeom prst="roundRect">
            <a:avLst>
              <a:gd name="adj" fmla="val 13333"/>
            </a:avLst>
          </a:prstGeom>
          <a:solidFill>
            <a:srgbClr val="FFE4D6"/>
          </a:solidFill>
          <a:ln w="9525">
            <a:solidFill>
              <a:srgbClr val="FFD1BB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E736800-FA76-46F5-A40F-BE4F8FAE9511}"/>
              </a:ext>
            </a:extLst>
          </p:cNvPr>
          <p:cNvSpPr>
            <a:spLocks noGrp="1"/>
          </p:cNvSpPr>
          <p:nvPr/>
        </p:nvSpPr>
        <p:spPr>
          <a:xfrm>
            <a:off x="1066800" y="54673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016" lnSpcReduction="10000"/>
          </a:bodyPr>
          <a:lstStyle/>
          <a:p>
            <a:pPr algn="l">
              <a:def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一句话收束：暑假阶段把 YogaTutor 从算法模块推进到边界清晰、可演示的本地 MVP。</a:t>
            </a:r>
          </a:p>
        </p:txBody>
      </p:sp>
    </p:spTree>
    <p:extLst>
      <p:ext uri="{BB962C8B-B14F-4D97-AF65-F5344CB8AC3E}">
        <p14:creationId xmlns:p14="http://schemas.microsoft.com/office/powerpoint/2010/main" val="1759393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DocSecurity>0</DocSecurity>
  <PresentationFormat>宽屏</PresentationFormat>
  <Paragraphs>156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siemin</cp:lastModifiedBy>
  <cp:revision>1</cp:revision>
  <dcterms:created xsi:type="dcterms:W3CDTF">2026-09-04T12:36:44Z</dcterms:created>
  <dcterms:modified xsi:type="dcterms:W3CDTF">2026-09-10T12:30:17Z</dcterms:modified>
</cp:coreProperties>
</file>