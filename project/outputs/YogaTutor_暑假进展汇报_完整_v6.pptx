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e84e9e681c044d3" /><Relationship Type="http://schemas.openxmlformats.org/officeDocument/2006/relationships/extended-properties" Target="/docProps/app.xml" Id="R3a3eb3a306104a60" /><Relationship Type="http://schemas.openxmlformats.org/officeDocument/2006/relationships/officeDocument" Target="/ppt/presentation.xml" Id="R02d686c2920d474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a34b26695e8463a"/>
  </p:sldMasterIdLst>
  <p:notesMasterIdLst>
    <p:notesMasterId xmlns:r="http://schemas.openxmlformats.org/officeDocument/2006/relationships" r:id="R749342ab89da435c"/>
  </p:notesMasterIdLst>
  <p:sldIdLst>
    <p:sldId xmlns:r="http://schemas.openxmlformats.org/officeDocument/2006/relationships" id="256" r:id="R18f91d5b3ad14825"/>
    <p:sldId xmlns:r="http://schemas.openxmlformats.org/officeDocument/2006/relationships" id="257" r:id="R899322738cb04f31"/>
    <p:sldId xmlns:r="http://schemas.openxmlformats.org/officeDocument/2006/relationships" id="258" r:id="R8a0e76a656064566"/>
    <p:sldId xmlns:r="http://schemas.openxmlformats.org/officeDocument/2006/relationships" id="259" r:id="R081f11c0c9924a78"/>
    <p:sldId xmlns:r="http://schemas.openxmlformats.org/officeDocument/2006/relationships" id="260" r:id="Rb41e17f0f8fc4c12"/>
    <p:sldId xmlns:r="http://schemas.openxmlformats.org/officeDocument/2006/relationships" id="261" r:id="R3ab5497064094d1f"/>
    <p:sldId xmlns:r="http://schemas.openxmlformats.org/officeDocument/2006/relationships" id="262" r:id="R640371cf595b4f53"/>
    <p:sldId xmlns:r="http://schemas.openxmlformats.org/officeDocument/2006/relationships" id="263" r:id="Rc6e94119a6cc4d96"/>
    <p:sldId xmlns:r="http://schemas.openxmlformats.org/officeDocument/2006/relationships" id="264" r:id="Rda5ad9bacc2d45ab"/>
    <p:sldId xmlns:r="http://schemas.openxmlformats.org/officeDocument/2006/relationships" id="265" r:id="Rc5b1c06a978b4093"/>
    <p:sldId xmlns:r="http://schemas.openxmlformats.org/officeDocument/2006/relationships" id="266" r:id="Reb75512156154ffd"/>
    <p:sldId xmlns:r="http://schemas.openxmlformats.org/officeDocument/2006/relationships" id="267" r:id="R289c55cf340045c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02d2f72ff9d4f77" /><Relationship Type="http://schemas.openxmlformats.org/officeDocument/2006/relationships/slideMaster" Target="/ppt/slideMasters/slideMaster1.xml" Id="Rea34b26695e8463a" /><Relationship Type="http://schemas.openxmlformats.org/officeDocument/2006/relationships/notesMaster" Target="/ppt/notesMasters/notesMaster1.xml" Id="R749342ab89da435c" /><Relationship Type="http://schemas.openxmlformats.org/officeDocument/2006/relationships/presProps" Target="/ppt/presProps.xml" Id="Rd5f8ee97d8fb41f5" /><Relationship Type="http://schemas.openxmlformats.org/officeDocument/2006/relationships/tableStyles" Target="/ppt/tableStyles.xml" Id="R229006071af94194" /><Relationship Type="http://schemas.openxmlformats.org/officeDocument/2006/relationships/slide" Target="/ppt/slides/slide1.xml" Id="R18f91d5b3ad14825" /><Relationship Type="http://schemas.openxmlformats.org/officeDocument/2006/relationships/slide" Target="/ppt/slides/slide2.xml" Id="R899322738cb04f31" /><Relationship Type="http://schemas.openxmlformats.org/officeDocument/2006/relationships/slide" Target="/ppt/slides/slide3.xml" Id="R8a0e76a656064566" /><Relationship Type="http://schemas.openxmlformats.org/officeDocument/2006/relationships/slide" Target="/ppt/slides/slide4.xml" Id="R081f11c0c9924a78" /><Relationship Type="http://schemas.openxmlformats.org/officeDocument/2006/relationships/slide" Target="/ppt/slides/slide5.xml" Id="Rb41e17f0f8fc4c12" /><Relationship Type="http://schemas.openxmlformats.org/officeDocument/2006/relationships/slide" Target="/ppt/slides/slide6.xml" Id="R3ab5497064094d1f" /><Relationship Type="http://schemas.openxmlformats.org/officeDocument/2006/relationships/slide" Target="/ppt/slides/slide7.xml" Id="R640371cf595b4f53" /><Relationship Type="http://schemas.openxmlformats.org/officeDocument/2006/relationships/slide" Target="/ppt/slides/slide8.xml" Id="Rc6e94119a6cc4d96" /><Relationship Type="http://schemas.openxmlformats.org/officeDocument/2006/relationships/slide" Target="/ppt/slides/slide9.xml" Id="Rda5ad9bacc2d45ab" /><Relationship Type="http://schemas.openxmlformats.org/officeDocument/2006/relationships/slide" Target="/ppt/slides/slide10.xml" Id="Rc5b1c06a978b4093" /><Relationship Type="http://schemas.openxmlformats.org/officeDocument/2006/relationships/slide" Target="/ppt/slides/slide11.xml" Id="Reb75512156154ffd" /><Relationship Type="http://schemas.openxmlformats.org/officeDocument/2006/relationships/slide" Target="/ppt/slides/slide12.xml" Id="R289c55cf340045c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dbe9bf52d914df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d9c77a0ae3c4678" /><Relationship Type="http://schemas.openxmlformats.org/officeDocument/2006/relationships/notesMaster" Target="/ppt/notesMasters/notesMaster1.xml" Id="Rdb29a4be33b74c8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e0eac2244914b08" /><Relationship Type="http://schemas.openxmlformats.org/officeDocument/2006/relationships/notesMaster" Target="/ppt/notesMasters/notesMaster1.xml" Id="R01d5b8fcd384405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06be6dd7ade4b02" /><Relationship Type="http://schemas.openxmlformats.org/officeDocument/2006/relationships/notesMaster" Target="/ppt/notesMasters/notesMaster1.xml" Id="R812067ec13a14db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f0a074c9c554282" /><Relationship Type="http://schemas.openxmlformats.org/officeDocument/2006/relationships/notesMaster" Target="/ppt/notesMasters/notesMaster1.xml" Id="Rb1c7323252254a4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d0f3af4b26d46bf" /><Relationship Type="http://schemas.openxmlformats.org/officeDocument/2006/relationships/notesMaster" Target="/ppt/notesMasters/notesMaster1.xml" Id="Rbe5ecf385550406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cf896ab3f46473c" /><Relationship Type="http://schemas.openxmlformats.org/officeDocument/2006/relationships/notesMaster" Target="/ppt/notesMasters/notesMaster1.xml" Id="R9f9528a3a52a43d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84ec78f4d7247e3" /><Relationship Type="http://schemas.openxmlformats.org/officeDocument/2006/relationships/notesMaster" Target="/ppt/notesMasters/notesMaster1.xml" Id="Rb3bfb73d93824fb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7de06f6d3f84bed" /><Relationship Type="http://schemas.openxmlformats.org/officeDocument/2006/relationships/notesMaster" Target="/ppt/notesMasters/notesMaster1.xml" Id="R22b26deec22f4b9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f9361520c914363" /><Relationship Type="http://schemas.openxmlformats.org/officeDocument/2006/relationships/notesMaster" Target="/ppt/notesMasters/notesMaster1.xml" Id="R251d0b28d2ce43a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5e71aa2f7fb4381" /><Relationship Type="http://schemas.openxmlformats.org/officeDocument/2006/relationships/notesMaster" Target="/ppt/notesMasters/notesMaster1.xml" Id="R8ef83ff959ac478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10fdb94ba15483b" /><Relationship Type="http://schemas.openxmlformats.org/officeDocument/2006/relationships/notesMaster" Target="/ppt/notesMasters/notesMaster1.xml" Id="R963e8e05c8ba457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d2ce506d35e4fac" /><Relationship Type="http://schemas.openxmlformats.org/officeDocument/2006/relationships/notesMaster" Target="/ppt/notesMasters/notesMaster1.xml" Id="R8a8a5a32aded4ab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封面。标准姿势图来自 src/standard_images/Warrior II Pose.jpg。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项目目标根据 docs/README.md 和网页文案整理。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时间线基于项目文件修改时间和 docs/README.md、docs/hardware.md、web/README.md、docs/BLE_MIGRATION.md。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架构依据 docs/architecture.md。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参数来自 src/config.py 和 docs/architecture.md。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标准姿势列表来自 src/standard_poses 和 src/standard_images。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网页架构来自 web/app.js、src/web_mvp_server.py 和 web/README.md。当前是 localhost HTTP；跨设备部署建议 HTTPS/WSS。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当前接口来自 src/web_mvp_server.py：/api/status、/api/frame、/api/reset。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截图由 web/index.html 分块截取。静态截图显示未开启摄像头状态，实际演示需使用 web/start-local.ps1 启动 Python 识别服务。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触觉反馈映射来自 src/haptic_feedback.py 和 tests/test_mvp_logic.py。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串口协议来自 docs/hardware.md、src/esp32_controller.py、firmware/yoga_bands/yoga_bands.ino、docs/BLE_MIGRATION.md。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总结结合 docs/README.md、web/README.md 和 BLE_MIGRATION.md。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4159053acd498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fb3ae6a2ded4770" /><Relationship Type="http://schemas.openxmlformats.org/officeDocument/2006/relationships/slideLayout" Target="/ppt/slideLayouts/slideLayout1.xml" Id="Rdbd64dc7253f487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bd64dc7253f487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776258848045e3" /><Relationship Type="http://schemas.openxmlformats.org/officeDocument/2006/relationships/image" Target="/ppt/media/image.png" Id="Rc51379dd23d74f78" /><Relationship Type="http://schemas.openxmlformats.org/officeDocument/2006/relationships/notesSlide" Target="/ppt/notesSlides/notesSlide1.xml" Id="Rc1d271faa09a477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c4307d712e4f1d" /><Relationship Type="http://schemas.openxmlformats.org/officeDocument/2006/relationships/notesSlide" Target="/ppt/notesSlides/notesSlide2.xml" Id="Ra99cfab098b043e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b716c4dcdc4eb4" /><Relationship Type="http://schemas.openxmlformats.org/officeDocument/2006/relationships/notesSlide" Target="/ppt/notesSlides/notesSlide3.xml" Id="Rcfb0f60d402f46a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822fb5214344fa" /><Relationship Type="http://schemas.openxmlformats.org/officeDocument/2006/relationships/notesSlide" Target="/ppt/notesSlides/notesSlide4.xml" Id="Rce63f28b3018464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74645a78ff4be4" /><Relationship Type="http://schemas.openxmlformats.org/officeDocument/2006/relationships/image" Target="/ppt/media/image2.png" Id="R62532d43f5ad45a8" /><Relationship Type="http://schemas.openxmlformats.org/officeDocument/2006/relationships/notesSlide" Target="/ppt/notesSlides/notesSlide5.xml" Id="Rc8ed0511ca1d486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3eaeb9d8e644f4" /><Relationship Type="http://schemas.openxmlformats.org/officeDocument/2006/relationships/image" Target="/ppt/media/image3.png" Id="R51e354e0c83e4fc7" /><Relationship Type="http://schemas.openxmlformats.org/officeDocument/2006/relationships/notesSlide" Target="/ppt/notesSlides/notesSlide6.xml" Id="R2c44ccfc396c452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50b7ff5b0c446e" /><Relationship Type="http://schemas.openxmlformats.org/officeDocument/2006/relationships/notesSlide" Target="/ppt/notesSlides/notesSlide7.xml" Id="R2e1a2fce2ba04e8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00d21e397b44e6" /><Relationship Type="http://schemas.openxmlformats.org/officeDocument/2006/relationships/notesSlide" Target="/ppt/notesSlides/notesSlide8.xml" Id="Rc1209c1b51db4fb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d7b45ca0fe48fb" /><Relationship Type="http://schemas.openxmlformats.org/officeDocument/2006/relationships/image" Target="/ppt/media/image4.png" Id="Ra0337fe6103d4624" /><Relationship Type="http://schemas.openxmlformats.org/officeDocument/2006/relationships/image" Target="/ppt/media/image5.png" Id="Ra8b13515cd8b446f" /><Relationship Type="http://schemas.openxmlformats.org/officeDocument/2006/relationships/image" Target="/ppt/media/image6.png" Id="R95c22bd148a846e2" /><Relationship Type="http://schemas.openxmlformats.org/officeDocument/2006/relationships/notesSlide" Target="/ppt/notesSlides/notesSlide9.xml" Id="R29947582400c4ac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2b13ca218442d5" /><Relationship Type="http://schemas.openxmlformats.org/officeDocument/2006/relationships/image" Target="/ppt/media/image7.png" Id="R55679bcdcdff404a" /><Relationship Type="http://schemas.openxmlformats.org/officeDocument/2006/relationships/notesSlide" Target="/ppt/notesSlides/notesSlide10.xml" Id="Rbaace2768f6c47a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927d8c95074014" /><Relationship Type="http://schemas.openxmlformats.org/officeDocument/2006/relationships/notesSlide" Target="/ppt/notesSlides/notesSlide11.xml" Id="R5b6cd95e313a420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1ecbe992bd4708" /><Relationship Type="http://schemas.openxmlformats.org/officeDocument/2006/relationships/notesSlide" Target="/ppt/notesSlides/notesSlide12.xml" Id="R5a82ddcc23f44b1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E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1379dd23d74f78"/>
          <a:srcRect xmlns:a="http://schemas.openxmlformats.org/drawingml/2006/main" l="13333" t="0" r="1333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76950" y="742950"/>
            <a:ext cx="5448300" cy="4762500"/>
          </a:xfrm>
          <a:prstGeom xmlns:a="http://schemas.openxmlformats.org/drawingml/2006/main" prst="roundRect">
            <a:avLst>
              <a:gd name="adj" fmla="val 1600"/>
            </a:avLst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87E9A3-6D04-46D8-8EFC-EF9358D3D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742950"/>
            <a:ext cx="5448300" cy="4762500"/>
          </a:xfrm>
          <a:prstGeom xmlns:a="http://schemas.openxmlformats.org/drawingml/2006/main" prst="roundRect">
            <a:avLst>
              <a:gd name="adj" fmla="val 16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B31195-7CC2-4E50-B779-39797BA46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rPr>
              <a:t>视觉感知 × 单腕触觉引导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E940D2-D498-41F4-9519-41DC2AC3D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4857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YogaTutor</a:t>
            </a:r>
          </a:p>
          <a:p xmlns:a="http://schemas.openxmlformats.org/drawingml/2006/main">
            <a:pPr algn="l">
              <a:defRPr sz="375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暑假进展汇报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D816A9-DE8C-4999-B4A0-8A4A04C49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76600"/>
            <a:ext cx="4476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rPr>
              <a:t>基于视觉感知和多方向触觉引导的实时动作矫正系统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F42BC4-1A85-4508-AD3F-7C2938C18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29100"/>
            <a:ext cx="1524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F00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C9A607-B8CA-496F-A665-1D160FE9A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577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rPr>
              <a:t>2026 年 7-8 月阶段成果</a:t>
            </a:r>
          </a:p>
        </p:txBody>
      </p:sp>
    </p:spTree>
    <p:extLst>
      <p:ext uri="{BB962C8B-B14F-4D97-AF65-F5344CB8AC3E}">
        <p14:creationId xmlns:p14="http://schemas.microsoft.com/office/powerpoint/2010/main" val="164744611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E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08F2436-6C2C-460F-8EAB-0F6B98927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rPr>
              <a:t>01 背景与目标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766986-B149-49C2-BA49-AAF5CBF18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项目目标：让用户看见偏差，感受调整方向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AA33E3-A493-4BA5-A8CB-DBB55426F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0005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rPr>
              <a:t>YogaTutor 暑假进展汇报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14565A-0DD0-487E-A744-B3DF3ED84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811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CD4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A44D75-22A5-419D-AF4A-788CA70F2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29718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8F4F0"/>
          </a:solidFill>
          <a:ln xmlns:a="http://schemas.openxmlformats.org/drawingml/2006/main" w="9525">
            <a:solidFill>
              <a:srgbClr val="E5DCD4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180927-F493-44F2-83A0-A213BC4B5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28800"/>
            <a:ext cx="2552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练习痛点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21925E-8777-43D8-815F-D754C5470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86000"/>
            <a:ext cx="25527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rPr>
              <a:t>视频教学无法实时指出角度偏差，用户低头看屏幕也会破坏动作保持。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2670D7-9D46-4E09-B034-8DBCD6211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619250"/>
            <a:ext cx="29718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F1112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FE5C36-3733-4321-8F91-EA9AA28D8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828800"/>
            <a:ext cx="2552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E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FEFB"/>
                </a:solidFill>
                <a:latin typeface="Microsoft YaHei"/>
                <a:ea typeface="Microsoft YaHei"/>
                <a:cs typeface="Microsoft YaHei"/>
              </a:rPr>
              <a:t>视觉判断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9B051E-7723-4245-BB4D-9F8B7567D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286000"/>
            <a:ext cx="25527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E8D9D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E8D9D1"/>
                </a:solidFill>
                <a:latin typeface="Microsoft YaHei"/>
                <a:ea typeface="Microsoft YaHei"/>
                <a:cs typeface="Microsoft YaHei"/>
              </a:rPr>
              <a:t>摄像头识别人体关键点，系统把动作转成可比较的关节角。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96CEA6-666E-432D-8E38-0F73CA913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619250"/>
            <a:ext cx="29718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8F4F0"/>
          </a:solidFill>
          <a:ln xmlns:a="http://schemas.openxmlformats.org/drawingml/2006/main" w="9525">
            <a:solidFill>
              <a:srgbClr val="E5DCD4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726446-DCC6-4E4D-B73A-DE67B1998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828800"/>
            <a:ext cx="2552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触觉引导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866384-D56A-4A05-9680-42A63D14F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286000"/>
            <a:ext cx="25527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rPr>
              <a:t>手环不只提醒错误，而是把纠正方向传到身体上。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87EF0F-5654-49E1-B51C-B958F1B40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667000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F00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2B0090-978D-43B8-AB32-F9132720C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600325"/>
            <a:ext cx="13335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F4F00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2D0034-A311-4F30-B1BA-3760974F9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667000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F00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D64094-64DA-47E3-A521-6F7CF996D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600325"/>
            <a:ext cx="13335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F4F00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5DB3D6-83C9-4A15-BDFA-E77798790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400550"/>
            <a:ext cx="81915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E4D6"/>
          </a:solidFill>
          <a:ln xmlns:a="http://schemas.openxmlformats.org/drawingml/2006/main" w="9525">
            <a:solidFill>
              <a:srgbClr val="FFD1BB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C1764E-44BF-400A-87C3-ACB9631D7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61010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rPr>
              <a:t>项目目标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5E7CD5-ED11-4EA0-A5C6-012B3EB70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591050"/>
            <a:ext cx="590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让用户在练习过程中完成“识别偏差、理解方向、即时调整”的闭环。</a:t>
            </a:r>
          </a:p>
        </p:txBody>
      </p:sp>
    </p:spTree>
    <p:extLst>
      <p:ext uri="{BB962C8B-B14F-4D97-AF65-F5344CB8AC3E}">
        <p14:creationId xmlns:p14="http://schemas.microsoft.com/office/powerpoint/2010/main" val="114034879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E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2D1B7DB-0ECA-41AA-B7C3-AC463E0A7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rPr>
              <a:t>02 暑假进展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BBE559-6BE4-4A9F-BEA1-FC200C9CC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暑假工作总览：从主程序到可演示网页 MVP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526B96-7E43-4084-9B0E-9351F7DDD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0005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rPr>
              <a:t>YogaTutor 暑假进展汇报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75EF10-2573-457B-903E-30D614396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811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CD4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ACC6E1-6AD0-4630-AA6A-6F17604BE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05100"/>
            <a:ext cx="9620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F00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2FB31C-7776-4472-90FA-099972253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1790700" cy="238125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F8F4F0"/>
          </a:solidFill>
          <a:ln xmlns:a="http://schemas.openxmlformats.org/drawingml/2006/main" w="9525">
            <a:solidFill>
              <a:srgbClr val="E5DCD4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1169E4-F49E-41A9-BCB6-184BBCBB5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764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rPr>
              <a:t>7月中旬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DD92FF-3882-40AE-8713-2F6AF7545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05100"/>
            <a:ext cx="1333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统一主程序</a:t>
            </a:r>
          </a:p>
          <a:p xmlns:a="http://schemas.openxmlformats.org/drawingml/2006/main">
            <a:pPr algn="l">
              <a:defRPr sz="1500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自动识别与手动评估共存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540FA0-3D2C-41E2-B2D6-FF3F9F66E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000375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F00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AB0ED7-6A40-46CB-808D-8A1867343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933700"/>
            <a:ext cx="13335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F4F00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7E2AC6-F0D7-4027-8F23-BDE68581F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809750"/>
            <a:ext cx="1790700" cy="238125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F8F4F0"/>
          </a:solidFill>
          <a:ln xmlns:a="http://schemas.openxmlformats.org/drawingml/2006/main" w="9525">
            <a:solidFill>
              <a:srgbClr val="E5DCD4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16CBC1-956E-4DC1-987A-525BF49CF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0764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rPr>
              <a:t>7月中旬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9A676A-55EC-4113-B918-97CEF9467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705100"/>
            <a:ext cx="1333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ESP32 固件</a:t>
            </a:r>
          </a:p>
          <a:p xmlns:a="http://schemas.openxmlformats.org/drawingml/2006/main">
            <a:pPr algn="l">
              <a:defRPr sz="1500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串口协议与左手环控制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1A39AB-39F3-41BC-A3C3-6CFFC9C19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000375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F00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76C038-11EE-4985-977E-6157709F2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933700"/>
            <a:ext cx="13335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F4F00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C0DA7F-DA15-4219-ACD1-8E3B33C07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809750"/>
            <a:ext cx="1790700" cy="238125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F8F4F0"/>
          </a:solidFill>
          <a:ln xmlns:a="http://schemas.openxmlformats.org/drawingml/2006/main" w="9525">
            <a:solidFill>
              <a:srgbClr val="E5DCD4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3B441E-6E21-433A-9F3A-128A4FE4A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0764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rPr>
              <a:t>8月23日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899829-4291-4056-A8FA-E240E3F3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705100"/>
            <a:ext cx="1333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Web MVP</a:t>
            </a:r>
          </a:p>
          <a:p xmlns:a="http://schemas.openxmlformats.org/drawingml/2006/main">
            <a:pPr algn="l">
              <a:defRPr sz="1500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Warrior II 实时练习界面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F9121C-6CB4-46B4-ACED-4DE19C6C9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000375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F00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3A063F-2EDC-467F-8877-BE34CF28D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933700"/>
            <a:ext cx="13335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F4F00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EBE07D-F583-4D84-A432-22D815BBE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238125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F8F4F0"/>
          </a:solidFill>
          <a:ln xmlns:a="http://schemas.openxmlformats.org/drawingml/2006/main" w="9525">
            <a:solidFill>
              <a:srgbClr val="E5DCD4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E6987C8-FF49-4CFB-99AF-893E4427D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0764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rPr>
              <a:t>8月23日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86CC30C-F81F-47BE-8CAE-43C95FE6A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705100"/>
            <a:ext cx="1333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闭环强化</a:t>
            </a:r>
          </a:p>
          <a:p xmlns:a="http://schemas.openxmlformats.org/drawingml/2006/main">
            <a:pPr algn="l">
              <a:defRPr sz="1500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串口保活、测试、BLE 方案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A13825-5B0A-41FA-AA5C-8E559E28F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000375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F00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42733FA-AB9B-4E5C-8929-8D16CDB4D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933700"/>
            <a:ext cx="13335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F4F00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4030E48-E3FF-4792-8FA3-63DC4B5F7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809750"/>
            <a:ext cx="1790700" cy="238125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1F1112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AB88F29-3CD0-4C91-8479-D4135B6DF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0764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E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EFB"/>
                </a:solidFill>
                <a:latin typeface="Microsoft YaHei"/>
                <a:ea typeface="Microsoft YaHei"/>
                <a:cs typeface="Microsoft YaHei"/>
              </a:rPr>
              <a:t>下一步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E5678A6-3DB2-4A03-9B07-4D3F4BCC2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705100"/>
            <a:ext cx="1333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E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EFB"/>
                </a:solidFill>
                <a:latin typeface="Microsoft YaHei"/>
                <a:ea typeface="Microsoft YaHei"/>
                <a:cs typeface="Microsoft YaHei"/>
              </a:rPr>
              <a:t>产品化扩展</a:t>
            </a:r>
          </a:p>
          <a:p xmlns:a="http://schemas.openxmlformats.org/drawingml/2006/main">
            <a:pPr algn="l">
              <a:defRPr sz="1500" b="0">
                <a:solidFill>
                  <a:srgbClr val="FFFE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EFB"/>
                </a:solidFill>
                <a:latin typeface="Microsoft YaHei"/>
                <a:ea typeface="Microsoft YaHei"/>
                <a:cs typeface="Microsoft YaHei"/>
              </a:rPr>
              <a:t>BLE、双手环、多动作选择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D51F704-CFE2-4689-BECC-542CCBA8E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91100"/>
            <a:ext cx="981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rPr>
              <a:t>4-6 月标准姿势库和申报材料作为基础；暑假重点是把系统收束成可演示闭环。</a:t>
            </a:r>
          </a:p>
        </p:txBody>
      </p:sp>
    </p:spTree>
    <p:extLst>
      <p:ext uri="{BB962C8B-B14F-4D97-AF65-F5344CB8AC3E}">
        <p14:creationId xmlns:p14="http://schemas.microsoft.com/office/powerpoint/2010/main" val="32277846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E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A16E40E-0245-4E01-B903-BF9B5D0F4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rPr>
              <a:t>03 核心系统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3CCCDA-3B63-41DB-A9BA-A5868CDDD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系统架构：视觉、评分和触觉反馈形成闭环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E4B991-E804-43A6-AD26-928E64461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0005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rPr>
              <a:t>YogaTutor 暑假进展汇报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794655-36BF-4BD0-BD37-4B900010D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811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CD4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5E09C0-9ABB-4993-8830-BD1C76C51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485900" cy="20955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8F4F0"/>
          </a:solidFill>
          <a:ln xmlns:a="http://schemas.openxmlformats.org/drawingml/2006/main" w="9525">
            <a:solidFill>
              <a:srgbClr val="E5DCD4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610459-BBE3-47AA-9345-D1EA7B7F7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19300"/>
            <a:ext cx="1066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摄像头帧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31664A-758D-4381-8379-9C28D6452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1066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rPr>
              <a:t>浏览器或 OpenCV 采集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FDB7D4-E638-4288-83BA-9FA14FD63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85750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F00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1CC00D-7348-4550-9420-923D4C0F8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790825"/>
            <a:ext cx="13335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F4F00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6DA858-125F-4EF6-AF9B-77E8E33EA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1809750"/>
            <a:ext cx="1485900" cy="20955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8F4F0"/>
          </a:solidFill>
          <a:ln xmlns:a="http://schemas.openxmlformats.org/drawingml/2006/main" w="9525">
            <a:solidFill>
              <a:srgbClr val="E5DCD4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2CD117-F166-46EE-A6D7-42A14CCF3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019300"/>
            <a:ext cx="1066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姿态检测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E47BF1-014C-4F3B-BF83-A13A35031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476500"/>
            <a:ext cx="1066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rPr>
              <a:t>MediaPipe 提取 33 个关键点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17BB48-2317-4AAA-9B66-C16A30A44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85750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F00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800E85-B1EE-41EE-879B-67C7DF4CD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790825"/>
            <a:ext cx="13335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F4F00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C2A7E8-1514-4384-A77B-1397BBEB9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809750"/>
            <a:ext cx="1485900" cy="20955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8F4F0"/>
          </a:solidFill>
          <a:ln xmlns:a="http://schemas.openxmlformats.org/drawingml/2006/main" w="9525">
            <a:solidFill>
              <a:srgbClr val="E5DCD4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B7F19C-CE0F-45D0-8A0B-B39281024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019300"/>
            <a:ext cx="1066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稳定处理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C5496B-A063-4F94-860A-86BEC3489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476500"/>
            <a:ext cx="1066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rPr>
              <a:t>滤波与静止检测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7346DD-6E48-4425-9971-B9D8F9E41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85750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F00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BD8C51-12D2-4C53-90EB-7D9D8E4A4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790825"/>
            <a:ext cx="13335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F4F00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D4601DF-7DF9-46CF-B8C2-7910DF1BA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809750"/>
            <a:ext cx="1485900" cy="20955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8F4F0"/>
          </a:solidFill>
          <a:ln xmlns:a="http://schemas.openxmlformats.org/drawingml/2006/main" w="9525">
            <a:solidFill>
              <a:srgbClr val="E5DCD4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039FAE-BAD1-4EF0-8270-218B28CB3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019300"/>
            <a:ext cx="1066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角度评分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B61D578-30AD-43C0-B935-1ED56E6B0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476500"/>
            <a:ext cx="1066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rPr>
              <a:t>8 个关节角比较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46527F3-EB8F-4BAD-ADB0-3A0A57608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85750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F00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8BDDA97-FCD9-468E-B8D3-6B85B4EDE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790825"/>
            <a:ext cx="13335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F4F00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522EC97-95F1-464F-97C3-71FFF6E5F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809750"/>
            <a:ext cx="1485900" cy="20955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1F1112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97D88EF-1422-4DB4-BDDE-69B4E737D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019300"/>
            <a:ext cx="1066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E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FEFB"/>
                </a:solidFill>
                <a:latin typeface="Microsoft YaHei"/>
                <a:ea typeface="Microsoft YaHei"/>
                <a:cs typeface="Microsoft YaHei"/>
              </a:rPr>
              <a:t>触觉映射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B21D53E-F0E6-4913-8E78-490696AC7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476500"/>
            <a:ext cx="1066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E8D9D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E8D9D1"/>
                </a:solidFill>
                <a:latin typeface="Microsoft YaHei"/>
                <a:ea typeface="Microsoft YaHei"/>
                <a:cs typeface="Microsoft YaHei"/>
              </a:rPr>
              <a:t>偏差转成马达方向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6A3A0C4-518D-4D82-9439-4A07B76D2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85750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F00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A954266-347E-4E49-B04E-247149542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790825"/>
            <a:ext cx="13335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F4F00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ECC0404-327F-4521-BE33-0E5526B56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809750"/>
            <a:ext cx="1485900" cy="20955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1F1112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95E1E76-AAC7-4B6D-91EA-2F6BADE43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019300"/>
            <a:ext cx="1066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E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FEFB"/>
                </a:solidFill>
                <a:latin typeface="Microsoft YaHei"/>
                <a:ea typeface="Microsoft YaHei"/>
                <a:cs typeface="Microsoft YaHei"/>
              </a:rPr>
              <a:t>ESP32 手环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0E2597D-4AD6-4801-A751-DE80CC0A1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476500"/>
            <a:ext cx="1066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E8D9D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E8D9D1"/>
                </a:solidFill>
                <a:latin typeface="Microsoft YaHei"/>
                <a:ea typeface="Microsoft YaHei"/>
                <a:cs typeface="Microsoft YaHei"/>
              </a:rPr>
              <a:t>USB 串口驱动左手环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972F5F8-F735-40E2-9936-250A86BA4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62500"/>
            <a:ext cx="95250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E4D6"/>
          </a:solidFill>
          <a:ln xmlns:a="http://schemas.openxmlformats.org/drawingml/2006/main" w="9525">
            <a:solidFill>
              <a:srgbClr val="FFD1BB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EA2A05F-3FE0-4E24-B080-79E19D113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9339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rPr>
              <a:t>算法汇报边界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5C1B897-F067-4575-95D2-4D571BF2A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914900"/>
            <a:ext cx="666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只讲输入、处理节点和输出，把主要时间留给网页 MVP 和硬件闭环。</a:t>
            </a:r>
          </a:p>
        </p:txBody>
      </p:sp>
    </p:spTree>
    <p:extLst>
      <p:ext uri="{BB962C8B-B14F-4D97-AF65-F5344CB8AC3E}">
        <p14:creationId xmlns:p14="http://schemas.microsoft.com/office/powerpoint/2010/main" val="164935357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E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A7C565D-7428-412C-AE4A-36A710E18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rPr>
              <a:t>03 核心系统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C716C6-45E4-4561-927E-2A8507E55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姿态感知：从 33 个关键点提取 8 个关节角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C31946-4EC4-477F-9A11-E7B64A7E3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0005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rPr>
              <a:t>YogaTutor 暑假进展汇报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BA910A-D453-49C7-82C8-61451F194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811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CD4"/>
          </a:solidFill>
          <a:ln xmlns:a="http://schemas.openxmlformats.org/drawingml/2006/main" w="0">
            <a:noFill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532d43f5ad45a8"/>
          <a:srcRect xmlns:a="http://schemas.openxmlformats.org/drawingml/2006/main" l="8712" t="0" r="871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05600" y="1600200"/>
            <a:ext cx="4000500" cy="2000250"/>
          </a:xfrm>
          <a:prstGeom xmlns:a="http://schemas.openxmlformats.org/drawingml/2006/main" prst="roundRect">
            <a:avLst>
              <a:gd name="adj" fmla="val 3810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19C7FC-CA70-4A78-A11F-40687C486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14500"/>
            <a:ext cx="234315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8F4F0"/>
          </a:solidFill>
          <a:ln xmlns:a="http://schemas.openxmlformats.org/drawingml/2006/main" w="9525">
            <a:solidFill>
              <a:srgbClr val="E5DCD4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CE52AE-7320-461C-ACE4-D1B66FE8D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85950"/>
            <a:ext cx="1962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rPr>
              <a:t>33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E0CAD2-2C99-48B1-8EC1-B4570AA69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00300"/>
            <a:ext cx="1962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rPr>
              <a:t>MediaPipe 人体关键点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F2CFEA-318C-4468-B872-CEBB60C03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714500"/>
            <a:ext cx="234315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8F4F0"/>
          </a:solidFill>
          <a:ln xmlns:a="http://schemas.openxmlformats.org/drawingml/2006/main" w="9525">
            <a:solidFill>
              <a:srgbClr val="E5DCD4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D654B7-39B8-42A9-BB5E-4FE3A3030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885950"/>
            <a:ext cx="1962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01312B-AD43-4BD1-9BEC-5E8BA480E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400300"/>
            <a:ext cx="1962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rPr>
              <a:t>肩、肘、髋、膝关节角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19BCE6-7BB3-4065-A4FE-CC5BDDFA1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95650"/>
            <a:ext cx="234315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8F4F0"/>
          </a:solidFill>
          <a:ln xmlns:a="http://schemas.openxmlformats.org/drawingml/2006/main" w="9525">
            <a:solidFill>
              <a:srgbClr val="E5DCD4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234CDC-7979-4789-9DB8-324940FA1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67100"/>
            <a:ext cx="1962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rPr>
              <a:t>1.2s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AD9B91-3669-4EF5-9673-CDC8F4094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81450"/>
            <a:ext cx="1962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rPr>
              <a:t>静止后触发评估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67EFF5-296E-4024-B004-B644CE169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295650"/>
            <a:ext cx="234315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8F4F0"/>
          </a:solidFill>
          <a:ln xmlns:a="http://schemas.openxmlformats.org/drawingml/2006/main" w="9525">
            <a:solidFill>
              <a:srgbClr val="E5DCD4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9DB4D5-40BA-4D13-B677-FE00663A7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467100"/>
            <a:ext cx="1962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rPr>
              <a:t>0.5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A60A9B-6D9F-4201-88D6-993AF2FD4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981450"/>
            <a:ext cx="1962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rPr>
              <a:t>检测与跟踪置信度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CDCA30-053F-46C3-B6ED-F034718D9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000500"/>
            <a:ext cx="40005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8F4F0"/>
          </a:solidFill>
          <a:ln xmlns:a="http://schemas.openxmlformats.org/drawingml/2006/main" w="9525">
            <a:solidFill>
              <a:srgbClr val="E5DCD4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2BF7AD-0364-4674-B2C0-AB0AA0236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210050"/>
            <a:ext cx="3581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输入输出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58371E0-F416-4065-A9F0-83C117E65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667250"/>
            <a:ext cx="3581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rPr>
              <a:t>输入是摄像头画面，输出是可比较的关节角。滤波和静止检测用于减少误判。</a:t>
            </a:r>
          </a:p>
        </p:txBody>
      </p:sp>
    </p:spTree>
    <p:extLst>
      <p:ext uri="{BB962C8B-B14F-4D97-AF65-F5344CB8AC3E}">
        <p14:creationId xmlns:p14="http://schemas.microsoft.com/office/powerpoint/2010/main" val="188075648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E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D8F4AD-9CD7-4DDF-A32F-1717237EE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rPr>
              <a:t>03 核心系统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06FED2-4D1E-4046-8506-E3F0ACA8B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标准姿势库：前期基础支撑假期 MVP 演示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33FBBF-E571-431B-BE20-B8D98F35E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0005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rPr>
              <a:t>YogaTutor 暑假进展汇报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354CFA-4C5D-4FBB-9266-EF545D5C4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811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CD4"/>
          </a:solidFill>
          <a:ln xmlns:a="http://schemas.openxmlformats.org/drawingml/2006/main" w="0">
            <a:noFill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e354e0c83e4fc7"/>
          <a:srcRect xmlns:a="http://schemas.openxmlformats.org/drawingml/2006/main" l="0" t="1060" r="0" b="106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562100"/>
            <a:ext cx="5715000" cy="3733800"/>
          </a:xfrm>
          <a:prstGeom xmlns:a="http://schemas.openxmlformats.org/drawingml/2006/main" prst="roundRect">
            <a:avLst>
              <a:gd name="adj" fmla="val 2041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485475-A8BC-44C1-AF7C-2F88F069A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167640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项目已有 18 个标准姿势 JSON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1F21BD-EF94-4947-8752-9D27E2146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4669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4F00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53CB30-B353-498A-9FB2-652924EDA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400300"/>
            <a:ext cx="3829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每个标准姿势保存 landmarks 和 average angles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849FC4-8F10-46BD-A949-05081DDAB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0956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4F00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A6CE39-DC37-4E10-A9EB-7BF2CCC44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028950"/>
            <a:ext cx="3829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网页 MVP 当前固定使用 Warrior II Pose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328E14-BA85-4694-8667-0DC62F510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7242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4F00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FFD44B-1679-4930-B38C-F9872F719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657600"/>
            <a:ext cx="3829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后续网页端可扩展为多姿势选择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71E551-941F-407E-8993-3D3B21964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819650"/>
            <a:ext cx="3905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rPr>
              <a:t>4-6 月成果在这里作为基础，不抢占暑假工作篇幅。</a:t>
            </a:r>
          </a:p>
        </p:txBody>
      </p:sp>
    </p:spTree>
    <p:extLst>
      <p:ext uri="{BB962C8B-B14F-4D97-AF65-F5344CB8AC3E}">
        <p14:creationId xmlns:p14="http://schemas.microsoft.com/office/powerpoint/2010/main" val="158331586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E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5D5868A-12FE-4983-8BB0-FD9103D3E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rPr>
              <a:t>04 网页与闭环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55C559-DE1E-45C0-85AD-B3852EDA5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网页 MVP：采用 B/S 本地架构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0E15CF-538D-4377-AF14-3DFC4BA37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0005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rPr>
              <a:t>YogaTutor 暑假进展汇报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07F26F-E4D8-46CF-B55F-18C1D669C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811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CD4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B83418-6E99-42A2-A1FE-A1A80F478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26479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1F1112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E09D79-3C2A-4DCE-ACF6-57C4FB0F7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28800"/>
            <a:ext cx="2228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E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FEFB"/>
                </a:solidFill>
                <a:latin typeface="Microsoft YaHei"/>
                <a:ea typeface="Microsoft YaHei"/>
                <a:cs typeface="Microsoft YaHei"/>
              </a:rPr>
              <a:t>Browser 客户端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CAA609-1B2F-40BC-A8B2-667BBDC97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86000"/>
            <a:ext cx="222885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E8D9D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E8D9D1"/>
                </a:solidFill>
                <a:latin typeface="Microsoft YaHei"/>
                <a:ea typeface="Microsoft YaHei"/>
                <a:cs typeface="Microsoft YaHei"/>
              </a:rPr>
              <a:t>摄像头采集</a:t>
            </a:r>
          </a:p>
          <a:p xmlns:a="http://schemas.openxmlformats.org/drawingml/2006/main">
            <a:pPr algn="l">
              <a:defRPr sz="1650" b="0">
                <a:solidFill>
                  <a:srgbClr val="E8D9D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E8D9D1"/>
                </a:solidFill>
                <a:latin typeface="Microsoft YaHei"/>
                <a:ea typeface="Microsoft YaHei"/>
                <a:cs typeface="Microsoft YaHei"/>
              </a:rPr>
              <a:t>页面展示</a:t>
            </a:r>
          </a:p>
          <a:p xmlns:a="http://schemas.openxmlformats.org/drawingml/2006/main">
            <a:pPr algn="l">
              <a:defRPr sz="1650" b="0">
                <a:solidFill>
                  <a:srgbClr val="E8D9D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E8D9D1"/>
                </a:solidFill>
                <a:latin typeface="Microsoft YaHei"/>
                <a:ea typeface="Microsoft YaHei"/>
                <a:cs typeface="Microsoft YaHei"/>
              </a:rPr>
              <a:t>交互按钮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3998A6-5CD0-4D4B-A8F8-93509CEF9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619250"/>
            <a:ext cx="26479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8F4F0"/>
          </a:solidFill>
          <a:ln xmlns:a="http://schemas.openxmlformats.org/drawingml/2006/main" w="9525">
            <a:solidFill>
              <a:srgbClr val="E5DCD4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C53D68-6BD0-4F55-9186-CE8426652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828800"/>
            <a:ext cx="2228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HTTP 本地接口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AD654A-2020-4A6B-BDDC-CFF577B42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286000"/>
            <a:ext cx="222885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rPr>
              <a:t>POST /api/frame</a:t>
            </a:r>
          </a:p>
          <a:p xmlns:a="http://schemas.openxmlformats.org/drawingml/2006/main">
            <a:pPr algn="l">
              <a:defRPr sz="16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rPr>
              <a:t>GET /api/status</a:t>
            </a:r>
          </a:p>
          <a:p xmlns:a="http://schemas.openxmlformats.org/drawingml/2006/main">
            <a:pPr algn="l">
              <a:defRPr sz="16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rPr>
              <a:t>POST /api/reset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A35CE7-4FE4-4DD8-902E-91D098C39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619250"/>
            <a:ext cx="26479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8F4F0"/>
          </a:solidFill>
          <a:ln xmlns:a="http://schemas.openxmlformats.org/drawingml/2006/main" w="9525">
            <a:solidFill>
              <a:srgbClr val="E5DCD4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EA7FEF-FEF2-4D49-AB2D-75A45C714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828800"/>
            <a:ext cx="2228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Python Server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9A5AB0-8709-40C3-91A0-679A1A772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286000"/>
            <a:ext cx="222885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rPr>
              <a:t>MediaPipe</a:t>
            </a:r>
          </a:p>
          <a:p xmlns:a="http://schemas.openxmlformats.org/drawingml/2006/main">
            <a:pPr algn="l">
              <a:defRPr sz="16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rPr>
              <a:t>静止检测</a:t>
            </a:r>
          </a:p>
          <a:p xmlns:a="http://schemas.openxmlformats.org/drawingml/2006/main">
            <a:pPr algn="l">
              <a:defRPr sz="16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rPr>
              <a:t>角度评分</a:t>
            </a:r>
          </a:p>
          <a:p xmlns:a="http://schemas.openxmlformats.org/drawingml/2006/main">
            <a:pPr algn="l">
              <a:defRPr sz="16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rPr>
              <a:t>触觉指令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618C74-CBD8-4A06-BF6B-BB7473934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419600"/>
            <a:ext cx="2819400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1F1112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EBBD95-EC60-406D-8611-935BF506A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7053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E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EFB"/>
                </a:solidFill>
                <a:latin typeface="Microsoft YaHei"/>
                <a:ea typeface="Microsoft YaHei"/>
                <a:cs typeface="Microsoft YaHei"/>
              </a:rPr>
              <a:t>ESP32 手环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78B114-426C-4939-981A-A3C26AE96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5162550"/>
            <a:ext cx="2095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E8D9D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E8D9D1"/>
                </a:solidFill>
                <a:latin typeface="Microsoft YaHei"/>
                <a:ea typeface="Microsoft YaHei"/>
                <a:cs typeface="Microsoft YaHei"/>
              </a:rPr>
              <a:t>USB 串口</a:t>
            </a:r>
          </a:p>
          <a:p xmlns:a="http://schemas.openxmlformats.org/drawingml/2006/main">
            <a:pPr algn="l">
              <a:defRPr sz="1800" b="0">
                <a:solidFill>
                  <a:srgbClr val="E8D9D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E8D9D1"/>
                </a:solidFill>
                <a:latin typeface="Microsoft YaHei"/>
                <a:ea typeface="Microsoft YaHei"/>
                <a:cs typeface="Microsoft YaHei"/>
              </a:rPr>
              <a:t>方向强度驱动马达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342CBC-54D5-423A-932C-E24ADB729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800350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F00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8E90E7-DA8C-4150-A6BC-F22EC9DA1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733675"/>
            <a:ext cx="13335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F4F00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1B0B1B-CA9F-48E0-985C-3FC2C103B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800350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F00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99665D-F57A-4AB2-812E-B3DDE7B14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733675"/>
            <a:ext cx="13335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F4F00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518A36D-5872-43C7-89B1-4C4BFBB76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4000500"/>
            <a:ext cx="285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F00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278F277-3DAB-4E40-8522-BBE0183EC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514850"/>
            <a:ext cx="32099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F00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03CA2BF-33E9-48A2-9B8E-07604D8C6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14850"/>
            <a:ext cx="26479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E4D6"/>
          </a:solidFill>
          <a:ln xmlns:a="http://schemas.openxmlformats.org/drawingml/2006/main" w="9525">
            <a:solidFill>
              <a:srgbClr val="FFD1BB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5B8F660-A07A-4B65-854B-867A05992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434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rPr>
              <a:t>当前传输内容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BCB9DF3-4E97-4CF9-BE24-FF825A7EC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43500"/>
            <a:ext cx="200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JPEG 摄像头帧</a:t>
            </a:r>
          </a:p>
          <a:p xmlns:a="http://schemas.openxmlformats.org/drawingml/2006/main">
            <a:pPr algn="l">
              <a:defRPr sz="180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不是肢体点阵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F95759E-9DBC-493A-8559-0B2836D3A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514850"/>
            <a:ext cx="26479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8F4F0"/>
          </a:solidFill>
          <a:ln xmlns:a="http://schemas.openxmlformats.org/drawingml/2006/main" w="9525">
            <a:solidFill>
              <a:srgbClr val="E5DCD4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C4F1385-ABE3-45E2-8CDF-CD95D3D92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7434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rPr>
              <a:t>后续跨设备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A324265-BE74-4B82-9D1E-72D8D54D8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5143500"/>
            <a:ext cx="200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跨设备访问时</a:t>
            </a:r>
          </a:p>
          <a:p xmlns:a="http://schemas.openxmlformats.org/drawingml/2006/main">
            <a:pPr algn="l">
              <a:defRPr sz="180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建议 HTTPS 或 WSS</a:t>
            </a:r>
          </a:p>
        </p:txBody>
      </p:sp>
    </p:spTree>
    <p:extLst>
      <p:ext uri="{BB962C8B-B14F-4D97-AF65-F5344CB8AC3E}">
        <p14:creationId xmlns:p14="http://schemas.microsoft.com/office/powerpoint/2010/main" val="15091463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E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AA0C903-F58E-49D0-8779-D15F0BA9D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rPr>
              <a:t>04 网页与闭环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78A5BC-525E-4085-BAE0-FBD756106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本机服务器负责计算，浏览器负责采集和展示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0F24E8-7B2F-4590-A6B1-30434C5B1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0005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rPr>
              <a:t>YogaTutor 暑假进展汇报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04378D-4103-432C-863F-88C634801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811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CD4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34799F-460E-4C31-9CC3-C40F05462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954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3D9CF1-8921-46D0-BD00-BEC54CC57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00250"/>
            <a:ext cx="2238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51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2DAC1E-0665-449A-9DFE-3A139E93A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90750"/>
            <a:ext cx="2238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采集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DAE037-F4FC-40C0-BCC7-AD7F207AF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71750"/>
            <a:ext cx="223837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rPr>
              <a:t>浏览器调用摄像头，生成 JPEG 帧。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6F2F58-3EDC-45D0-BB2C-125475D25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16954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767EA9-780F-44FA-9C11-AC2B714B3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000250"/>
            <a:ext cx="2238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515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9CD41F-E87E-44F5-B2EE-6FF93B97A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190750"/>
            <a:ext cx="2238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传输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4507A9-8CC0-468A-9AD9-DF79A8FBD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571750"/>
            <a:ext cx="223837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rPr>
              <a:t>POST 到本机 /api/frame。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0B82AD-E09C-4B52-BF38-97A4BD6C7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16954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D55B26-0807-4F1E-8506-D00FD5D23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000250"/>
            <a:ext cx="2238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515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EDB02C-BB79-4266-AA65-13E057D17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190750"/>
            <a:ext cx="2238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计算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A9788D-4C14-4F10-885A-27DFD0086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571750"/>
            <a:ext cx="223837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rPr>
              <a:t>Python 服务计算关键点、关节角和评分。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945CF5-9C92-49AB-B9CB-674ABEFE9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6954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1E54E8-FE74-409F-A75E-B251B724B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000250"/>
            <a:ext cx="247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515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A157AA-B490-403D-B507-A8B4C8DBC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1907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反馈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1C7F3BA-E829-4B32-AE12-97228853D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571750"/>
            <a:ext cx="2476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rPr>
              <a:t>页面更新结果，服务器发送手环指令。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8415CDC-4F8C-4970-AC17-704D8F111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400300"/>
            <a:ext cx="609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F00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8A1CDAA-9B30-4718-8471-75F4881BE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333625"/>
            <a:ext cx="13335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F4F00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47B62A9-B5C1-40FB-933E-EBFF02D87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400300"/>
            <a:ext cx="609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F00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26FB862-8DD8-45F3-8D37-9BA01F4D3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333625"/>
            <a:ext cx="13335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F4F00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CAA276E-9A74-4406-A041-726404621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400300"/>
            <a:ext cx="609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F00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40CD10A-1420-45D8-8E96-710838ACE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333625"/>
            <a:ext cx="13335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F4F00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206EEF8-1320-4822-BF4D-78FE744F6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10050"/>
            <a:ext cx="43624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8F4F0"/>
          </a:solidFill>
          <a:ln xmlns:a="http://schemas.openxmlformats.org/drawingml/2006/main" w="9525">
            <a:solidFill>
              <a:srgbClr val="E5DCD4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46A43AE-EA21-4653-BCF9-C31E0C8E6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4577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rPr>
              <a:t>为什么先做本地服务器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2125BC7-C493-448E-8263-2D82F767C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953000"/>
            <a:ext cx="3524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延迟低，摄像头画面不离开电脑，USB 手环控制也更直接。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BC60C84-A92E-431A-B396-EFF4F9A67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210050"/>
            <a:ext cx="43624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F1112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488E438-B71E-4CBE-9926-3C1B7B198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4577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E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FEFB"/>
                </a:solidFill>
                <a:latin typeface="Microsoft YaHei"/>
                <a:ea typeface="Microsoft YaHei"/>
                <a:cs typeface="Microsoft YaHei"/>
              </a:rPr>
              <a:t>后续网络化改造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4A15359-F8EA-406C-8135-7769D3CD0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953000"/>
            <a:ext cx="3524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E8D9D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E8D9D1"/>
                </a:solidFill>
                <a:latin typeface="Microsoft YaHei"/>
                <a:ea typeface="Microsoft YaHei"/>
                <a:cs typeface="Microsoft YaHei"/>
              </a:rPr>
              <a:t>跨设备接入时，用 HTTPS/WSS 保护摄像头帧或关键点数据。</a:t>
            </a:r>
          </a:p>
        </p:txBody>
      </p:sp>
    </p:spTree>
    <p:extLst>
      <p:ext uri="{BB962C8B-B14F-4D97-AF65-F5344CB8AC3E}">
        <p14:creationId xmlns:p14="http://schemas.microsoft.com/office/powerpoint/2010/main" val="38097420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E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17A206-2B07-4392-9010-5DDC6F03D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rPr>
              <a:t>04 网页与闭环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E6450B-689C-459B-804B-F96C7230D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网页界面：一页完成练习、评分和手环状态展示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C59A6C-7E32-414C-A60A-228375E05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0005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rPr>
              <a:t>YogaTutor 暑假进展汇报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80BFD0-7A54-4151-8DE8-CB178EC3B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811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CD4"/>
          </a:solidFill>
          <a:ln xmlns:a="http://schemas.openxmlformats.org/drawingml/2006/main" w="0">
            <a:noFill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337fe6103d4624"/>
          <a:stretch xmlns:a="http://schemas.openxmlformats.org/drawingml/2006/main"/>
        </p:blipFill>
        <p:spPr>
          <a:xfrm xmlns:a="http://schemas.openxmlformats.org/drawingml/2006/main">
            <a:off x="533400" y="1414204"/>
            <a:ext cx="6096000" cy="3591442"/>
          </a:xfrm>
          <a:prstGeom xmlns:a="http://schemas.openxmlformats.org/drawingml/2006/main" prst="roundRect">
            <a:avLst>
              <a:gd name="adj" fmla="val 2116"/>
            </a:avLst>
          </a:prstGeom>
        </p:spPr>
      </p:pic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b13515cd8b446f"/>
          <a:stretch xmlns:a="http://schemas.openxmlformats.org/drawingml/2006/main"/>
        </p:blipFill>
        <p:spPr>
          <a:xfrm xmlns:a="http://schemas.openxmlformats.org/drawingml/2006/main">
            <a:off x="7332256" y="1409700"/>
            <a:ext cx="3299637" cy="1866900"/>
          </a:xfrm>
          <a:prstGeom xmlns:a="http://schemas.openxmlformats.org/drawingml/2006/main" prst="roundRect">
            <a:avLst>
              <a:gd name="adj" fmla="val 4082"/>
            </a:avLst>
          </a:prstGeom>
        </p:spPr>
      </p:pic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c22bd148a846e2"/>
          <a:stretch xmlns:a="http://schemas.openxmlformats.org/drawingml/2006/main"/>
        </p:blipFill>
        <p:spPr>
          <a:xfrm xmlns:a="http://schemas.openxmlformats.org/drawingml/2006/main">
            <a:off x="7874960" y="3638550"/>
            <a:ext cx="2214230" cy="1866900"/>
          </a:xfrm>
          <a:prstGeom xmlns:a="http://schemas.openxmlformats.org/drawingml/2006/main" prst="roundRect">
            <a:avLst>
              <a:gd name="adj" fmla="val 4082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D0407C-42B0-4678-B0C9-CA171E26A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34000"/>
            <a:ext cx="10001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E4D6"/>
          </a:solidFill>
          <a:ln xmlns:a="http://schemas.openxmlformats.org/drawingml/2006/main" w="9525">
            <a:solidFill>
              <a:srgbClr val="FFD1BB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AFC7A8-3FBE-42B8-9B3C-59F29835E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673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rPr>
              <a:t>页面模块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7F8272-5E1F-4785-B9A3-41A14B055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448300"/>
            <a:ext cx="781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摄像头画面、目标姿势、评分条、关节列表、USB 状态和左手环方向在同一工作台中展示。</a:t>
            </a:r>
          </a:p>
        </p:txBody>
      </p:sp>
    </p:spTree>
    <p:extLst>
      <p:ext uri="{BB962C8B-B14F-4D97-AF65-F5344CB8AC3E}">
        <p14:creationId xmlns:p14="http://schemas.microsoft.com/office/powerpoint/2010/main" val="194490210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E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526302-3C89-493D-BC5F-A754EA361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rPr>
              <a:t>04 网页与闭环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57054F-A272-4603-83E1-085046B18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触觉反馈：把最大角度偏差转成一个震动方向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0E9748-9CE4-4A70-91A6-629C8B7B0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0005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rPr>
              <a:t>YogaTutor 暑假进展汇报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486A8D-114D-4955-8CD6-3EA95D619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811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CD4"/>
          </a:solidFill>
          <a:ln xmlns:a="http://schemas.openxmlformats.org/drawingml/2006/main" w="0">
            <a:noFill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679bcdcdff404a"/>
          <a:srcRect xmlns:a="http://schemas.openxmlformats.org/drawingml/2006/main" l="0" t="5041" r="0" b="504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43700" y="1581150"/>
            <a:ext cx="4095750" cy="3105150"/>
          </a:xfrm>
          <a:prstGeom xmlns:a="http://schemas.openxmlformats.org/drawingml/2006/main" prst="roundRect">
            <a:avLst>
              <a:gd name="adj" fmla="val 2454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1FC203-A171-403A-8832-27ED7DC92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621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4F00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D4B76E-8770-4BC9-B614-C22254C31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95450"/>
            <a:ext cx="4876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当前 MVP 使用已验证的左手环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0D1606-3D14-47D7-97BC-04C4F2758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098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4F00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B34D8A-E155-4E63-B543-34D578191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43150"/>
            <a:ext cx="4876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每次只发送优先级最高的一个纠正方向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E0AAE3-30B0-490C-B085-1029DCF86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575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4F00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571203-FD45-4424-9DE7-0A7A1489C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90850"/>
            <a:ext cx="4876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方向映射：上 M2、下 M0、左 M1、右 M3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B8C94F-964D-4A09-9782-5AC81588A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052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4F00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1679E2-4B0C-4CE9-BDE8-A2B75AEF2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38550"/>
            <a:ext cx="4876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强度随偏差比例提升：150、200、255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CB01A6-13D8-49FB-A97E-F0D619864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29150"/>
            <a:ext cx="49530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8F4F0"/>
          </a:solidFill>
          <a:ln xmlns:a="http://schemas.openxmlformats.org/drawingml/2006/main" w="9525">
            <a:solidFill>
              <a:srgbClr val="E5DCD4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D13452-A64E-4831-82D3-E4E484907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87680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rPr>
              <a:t>反馈流程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E109E7-A575-4D07-8D52-324588571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85775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偏差排序  选最大偏差  映射方向  发送指令</a:t>
            </a:r>
          </a:p>
        </p:txBody>
      </p:sp>
    </p:spTree>
    <p:extLst>
      <p:ext uri="{BB962C8B-B14F-4D97-AF65-F5344CB8AC3E}">
        <p14:creationId xmlns:p14="http://schemas.microsoft.com/office/powerpoint/2010/main" val="207748921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E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210B556-2A1C-4900-AD2E-73A8D80CD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rPr>
              <a:t>04 网页与闭环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7B757E-DBB7-41A5-8C71-EDE88DF03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硬件通信：USB 串口闭环和停震保护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4472D0-DE9E-40AE-9E83-657AE09C2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0005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rPr>
              <a:t>YogaTutor 暑假进展汇报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67AFB9-93AD-4A02-A069-5851B961E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811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CD4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D32628-9F4D-45B9-9566-16FD3F6B1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85900"/>
            <a:ext cx="98107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1F1112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51BAE2-2294-44F2-BA7E-B7102AA47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752600"/>
            <a:ext cx="266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rPr>
              <a:t>L:2,150 R:N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75CFC3-D67A-4D86-A21F-6FC3487EC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809750"/>
            <a:ext cx="533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FFFE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FFFEFB"/>
                </a:solidFill>
                <a:latin typeface="Microsoft YaHei"/>
                <a:ea typeface="Microsoft YaHei"/>
                <a:cs typeface="Microsoft YaHei"/>
              </a:rPr>
              <a:t>左手环 M2 以 150 强度震动，右手环无动作。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CDC006-3CAC-4974-B7AD-366A1922E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219075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8F4F0"/>
          </a:solidFill>
          <a:ln xmlns:a="http://schemas.openxmlformats.org/drawingml/2006/main" w="9525">
            <a:solidFill>
              <a:srgbClr val="E5DCD4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E9738F-CD26-46AF-95F3-288C86BE5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1470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rPr>
              <a:t>115200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F253A1-303F-463F-86F6-5B9E5D7BC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2905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rPr>
              <a:t>串口波特率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7D0FE3-F076-4F8F-8C70-46A97404F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143250"/>
            <a:ext cx="219075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8F4F0"/>
          </a:solidFill>
          <a:ln xmlns:a="http://schemas.openxmlformats.org/drawingml/2006/main" w="9525">
            <a:solidFill>
              <a:srgbClr val="E5DCD4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0C49FB-C261-4CAC-A6B1-CC9EC0CBE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31470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rPr>
              <a:t>0.75s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8237F7-7520-4CC7-8C0E-ABAA516D4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82905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rPr>
              <a:t>电脑端保活间隔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E17C5C-6478-4288-8B99-F54AC278C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143250"/>
            <a:ext cx="219075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8F4F0"/>
          </a:solidFill>
          <a:ln xmlns:a="http://schemas.openxmlformats.org/drawingml/2006/main" w="9525">
            <a:solidFill>
              <a:srgbClr val="E5DCD4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823574-6839-4633-A00C-715821A27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31470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rPr>
              <a:t>2s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02E603-8B7A-484B-8BBE-83EEDE7F8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82905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rPr>
              <a:t>固件无命令自动停震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9F8AEB-0728-44EE-A13F-5DCA1C65E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43250"/>
            <a:ext cx="219075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8F4F0"/>
          </a:solidFill>
          <a:ln xmlns:a="http://schemas.openxmlformats.org/drawingml/2006/main" w="9525">
            <a:solidFill>
              <a:srgbClr val="E5DCD4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8F0260-76C5-4550-8025-F24038161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31470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rPr>
              <a:t>COM9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E1CF77-E406-4C61-A538-5186DB196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82905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rPr>
              <a:t>默认手环串口，可覆盖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759CBF-000D-4190-B574-5BFCDAA7D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62500"/>
            <a:ext cx="45339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8F4F0"/>
          </a:solidFill>
          <a:ln xmlns:a="http://schemas.openxmlformats.org/drawingml/2006/main" w="9525">
            <a:solidFill>
              <a:srgbClr val="E5DCD4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8D9C38B-A5EF-4866-803C-F52984A61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2920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rPr>
              <a:t>通信流程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DC3E8C6-71E3-45FD-BB60-41372B164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5010150"/>
            <a:ext cx="238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生成命令，解析后控制 GPIO 和马达。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E37AE58-465F-4013-BC24-B62EBA64A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762500"/>
            <a:ext cx="45339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F1112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EEF9BCA-08B7-4D8E-B0E9-29FB899CA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02920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E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FEFB"/>
                </a:solidFill>
                <a:latin typeface="Microsoft YaHei"/>
                <a:ea typeface="Microsoft YaHei"/>
                <a:cs typeface="Microsoft YaHei"/>
              </a:rPr>
              <a:t>边界说明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27D73C7-4254-452F-8F1F-4F6E5C5C8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5010150"/>
            <a:ext cx="238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E8D9D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E8D9D1"/>
                </a:solidFill>
                <a:latin typeface="Microsoft YaHei"/>
                <a:ea typeface="Microsoft YaHei"/>
                <a:cs typeface="Microsoft YaHei"/>
              </a:rPr>
              <a:t>BLE 已有方案，当前不要说成已完成。</a:t>
            </a:r>
          </a:p>
        </p:txBody>
      </p:sp>
    </p:spTree>
    <p:extLst>
      <p:ext uri="{BB962C8B-B14F-4D97-AF65-F5344CB8AC3E}">
        <p14:creationId xmlns:p14="http://schemas.microsoft.com/office/powerpoint/2010/main" val="187714785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E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9C1AFED-E643-4CDE-9906-E1DACBE2C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rPr>
              <a:t>05 总结与计划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A76F5A-EEF2-4E90-9EAC-87C49C75E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总结与下一步：从可演示 MVP 走向无线化和多动作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3415D1-13AF-452B-B89C-FF0E9C443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0005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rPr>
              <a:t>YogaTutor 暑假进展汇报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253F74-51D4-4857-9009-C4C2F4471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811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CD4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0F2C65-4F85-4443-8701-5E3342AB9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00200"/>
            <a:ext cx="381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暑假完成的核心成果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38A142-579A-4A76-A644-0D076BC6D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4F00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C97392-2FA5-41CA-8DEE-45D30CCAE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71700"/>
            <a:ext cx="4686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形成 Warrior II 网页练习工作台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8B767F-B1C7-4D5A-99BE-C4A940F97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908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4F00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45A623-CF41-492D-ACF7-9C36349A4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24150"/>
            <a:ext cx="4686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跑通本机视觉计算到左手环震动的闭环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031EB0-F31D-44D0-82C6-F84D9D146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432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4F00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293FD5-38BB-489C-B0BA-9D404930F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76600"/>
            <a:ext cx="4686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明确 USB MVP、BLE 待迁移和双手环待扩展的边界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B12993-3791-4158-9E2B-1F2FD57F9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60020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后续计划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BF2D1C-3E28-4A09-A653-25BC00ED5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2383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4F00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FC70CD-6A5F-4766-9FBA-368509470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171700"/>
            <a:ext cx="3829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BLE GATT 替代 USB 串口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59542D-42B9-4590-858F-5939D490D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7527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4F00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C6BBDB-CF53-4A88-8B1F-E86D39FEE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686050"/>
            <a:ext cx="3829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扩展双手环 GPIO 和固件协议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AF612F-A5F2-4125-AAA6-9286B76C3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2670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4F00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0E264E-7302-412D-B4DE-499E6D44C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200400"/>
            <a:ext cx="3829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网页端支持多姿势选择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2AEDDE6-D5E0-44B2-8431-F1B5B6865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7814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4F00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375DB1-1BE3-4D5B-9651-DE040A251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714750"/>
            <a:ext cx="3829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补充真实用户测试和长期稳定性验证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380C492-E3E5-412A-84CB-1701256B4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14950"/>
            <a:ext cx="94869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E4D6"/>
          </a:solidFill>
          <a:ln xmlns:a="http://schemas.openxmlformats.org/drawingml/2006/main" w="9525">
            <a:solidFill>
              <a:srgbClr val="FFD1BB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9337D77-0D4A-43A5-B10F-1176E930C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673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一句话收束：暑假阶段把 YogaTutor 从算法模块推进到边界清晰、可演示的本地 MVP。</a:t>
            </a:r>
          </a:p>
        </p:txBody>
      </p:sp>
    </p:spTree>
    <p:extLst>
      <p:ext uri="{BB962C8B-B14F-4D97-AF65-F5344CB8AC3E}">
        <p14:creationId xmlns:p14="http://schemas.microsoft.com/office/powerpoint/2010/main" val="98329711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2026-09-04T13:44:14.6150000Z</dcterms:created>
  <dcterms:modified xsi:type="dcterms:W3CDTF">2026-09-04T13:44:14.6150000Z</dcterms:modified>
</coreProperties>
</file>